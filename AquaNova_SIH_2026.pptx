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98" r:id="rId2"/>
    <p:sldId id="257" r:id="rId3"/>
    <p:sldId id="258" r:id="rId4"/>
    <p:sldId id="259" r:id="rId5"/>
    <p:sldId id="260" r:id="rId6"/>
    <p:sldId id="296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EEF774-20EE-4C4E-ADD4-A1CE3AA384A2}" v="1" dt="2026-09-23T06:53:42.862"/>
    <p1510:client id="{57810653-AE21-4E3F-A305-3C79E7CDCA0A}" v="2" dt="2026-09-23T08:21:47.3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twik Mitra" userId="fd86c018dbd25f76" providerId="LiveId" clId="{BB976EA2-3775-47D4-B8C3-1BC5F0D9E22E}"/>
    <pc:docChg chg="undo custSel addSld delSld modSld">
      <pc:chgData name="Satwik Mitra" userId="fd86c018dbd25f76" providerId="LiveId" clId="{BB976EA2-3775-47D4-B8C3-1BC5F0D9E22E}" dt="2026-09-23T17:22:25.516" v="172" actId="1035"/>
      <pc:docMkLst>
        <pc:docMk/>
      </pc:docMkLst>
      <pc:sldChg chg="addSp delSp modSp mod">
        <pc:chgData name="Satwik Mitra" userId="fd86c018dbd25f76" providerId="LiveId" clId="{BB976EA2-3775-47D4-B8C3-1BC5F0D9E22E}" dt="2026-09-23T17:22:25.516" v="172" actId="1035"/>
        <pc:sldMkLst>
          <pc:docMk/>
          <pc:sldMk cId="0" sldId="257"/>
        </pc:sldMkLst>
        <pc:spChg chg="mod">
          <ac:chgData name="Satwik Mitra" userId="fd86c018dbd25f76" providerId="LiveId" clId="{BB976EA2-3775-47D4-B8C3-1BC5F0D9E22E}" dt="2026-09-20T20:47:38.697" v="32" actId="1076"/>
          <ac:spMkLst>
            <pc:docMk/>
            <pc:sldMk cId="0" sldId="257"/>
            <ac:spMk id="2" creationId="{00000000-0000-0000-0000-000000000000}"/>
          </ac:spMkLst>
        </pc:spChg>
        <pc:spChg chg="mod">
          <ac:chgData name="Satwik Mitra" userId="fd86c018dbd25f76" providerId="LiveId" clId="{BB976EA2-3775-47D4-B8C3-1BC5F0D9E22E}" dt="2026-09-20T21:00:05.841" v="103" actId="255"/>
          <ac:spMkLst>
            <pc:docMk/>
            <pc:sldMk cId="0" sldId="257"/>
            <ac:spMk id="4" creationId="{00000000-0000-0000-0000-000000000000}"/>
          </ac:spMkLst>
        </pc:spChg>
        <pc:spChg chg="mod">
          <ac:chgData name="Satwik Mitra" userId="fd86c018dbd25f76" providerId="LiveId" clId="{BB976EA2-3775-47D4-B8C3-1BC5F0D9E22E}" dt="2026-09-23T16:53:57.213" v="159" actId="255"/>
          <ac:spMkLst>
            <pc:docMk/>
            <pc:sldMk cId="0" sldId="257"/>
            <ac:spMk id="10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44:38.444" v="5" actId="255"/>
          <ac:spMkLst>
            <pc:docMk/>
            <pc:sldMk cId="0" sldId="257"/>
            <ac:spMk id="12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44:59.871" v="7" actId="255"/>
          <ac:spMkLst>
            <pc:docMk/>
            <pc:sldMk cId="0" sldId="257"/>
            <ac:spMk id="14" creationId="{00000000-0000-0000-0000-000000000000}"/>
          </ac:spMkLst>
        </pc:spChg>
        <pc:spChg chg="mod">
          <ac:chgData name="Satwik Mitra" userId="fd86c018dbd25f76" providerId="LiveId" clId="{BB976EA2-3775-47D4-B8C3-1BC5F0D9E22E}" dt="2026-09-23T16:53:31.521" v="158" actId="14100"/>
          <ac:spMkLst>
            <pc:docMk/>
            <pc:sldMk cId="0" sldId="257"/>
            <ac:spMk id="17" creationId="{00000000-0000-0000-0000-000000000000}"/>
          </ac:spMkLst>
        </pc:spChg>
        <pc:spChg chg="mod">
          <ac:chgData name="Satwik Mitra" userId="fd86c018dbd25f76" providerId="LiveId" clId="{BB976EA2-3775-47D4-B8C3-1BC5F0D9E22E}" dt="2026-09-23T16:52:54.248" v="155" actId="255"/>
          <ac:spMkLst>
            <pc:docMk/>
            <pc:sldMk cId="0" sldId="257"/>
            <ac:spMk id="18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47:15.951" v="30" actId="255"/>
          <ac:spMkLst>
            <pc:docMk/>
            <pc:sldMk cId="0" sldId="257"/>
            <ac:spMk id="22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48:20.515" v="37" actId="255"/>
          <ac:spMkLst>
            <pc:docMk/>
            <pc:sldMk cId="0" sldId="257"/>
            <ac:spMk id="24" creationId="{00000000-0000-0000-0000-000000000000}"/>
          </ac:spMkLst>
        </pc:spChg>
        <pc:picChg chg="del">
          <ac:chgData name="Satwik Mitra" userId="fd86c018dbd25f76" providerId="LiveId" clId="{BB976EA2-3775-47D4-B8C3-1BC5F0D9E22E}" dt="2026-09-23T17:19:41.377" v="160" actId="478"/>
          <ac:picMkLst>
            <pc:docMk/>
            <pc:sldMk cId="0" sldId="257"/>
            <ac:picMk id="15" creationId="{00000000-0000-0000-0000-000000000000}"/>
          </ac:picMkLst>
        </pc:picChg>
        <pc:picChg chg="add mod">
          <ac:chgData name="Satwik Mitra" userId="fd86c018dbd25f76" providerId="LiveId" clId="{BB976EA2-3775-47D4-B8C3-1BC5F0D9E22E}" dt="2026-09-23T17:22:25.516" v="172" actId="1035"/>
          <ac:picMkLst>
            <pc:docMk/>
            <pc:sldMk cId="0" sldId="257"/>
            <ac:picMk id="20" creationId="{049EFF27-D021-C782-1EA7-FC2242186F34}"/>
          </ac:picMkLst>
        </pc:picChg>
      </pc:sldChg>
      <pc:sldChg chg="modSp mod">
        <pc:chgData name="Satwik Mitra" userId="fd86c018dbd25f76" providerId="LiveId" clId="{BB976EA2-3775-47D4-B8C3-1BC5F0D9E22E}" dt="2026-09-20T20:59:56.230" v="102" actId="255"/>
        <pc:sldMkLst>
          <pc:docMk/>
          <pc:sldMk cId="0" sldId="258"/>
        </pc:sldMkLst>
        <pc:spChg chg="mod">
          <ac:chgData name="Satwik Mitra" userId="fd86c018dbd25f76" providerId="LiveId" clId="{BB976EA2-3775-47D4-B8C3-1BC5F0D9E22E}" dt="2026-09-20T20:59:56.230" v="102" actId="255"/>
          <ac:spMkLst>
            <pc:docMk/>
            <pc:sldMk cId="0" sldId="258"/>
            <ac:spMk id="4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48:56.531" v="40" actId="1076"/>
          <ac:spMkLst>
            <pc:docMk/>
            <pc:sldMk cId="0" sldId="258"/>
            <ac:spMk id="10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49:18.550" v="42" actId="255"/>
          <ac:spMkLst>
            <pc:docMk/>
            <pc:sldMk cId="0" sldId="258"/>
            <ac:spMk id="12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49:49.674" v="46" actId="1076"/>
          <ac:spMkLst>
            <pc:docMk/>
            <pc:sldMk cId="0" sldId="258"/>
            <ac:spMk id="14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50:32.801" v="50" actId="255"/>
          <ac:spMkLst>
            <pc:docMk/>
            <pc:sldMk cId="0" sldId="258"/>
            <ac:spMk id="16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50:51.218" v="52" actId="255"/>
          <ac:spMkLst>
            <pc:docMk/>
            <pc:sldMk cId="0" sldId="258"/>
            <ac:spMk id="18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51:12.501" v="54" actId="1076"/>
          <ac:spMkLst>
            <pc:docMk/>
            <pc:sldMk cId="0" sldId="258"/>
            <ac:spMk id="23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51:47.179" v="62" actId="255"/>
          <ac:spMkLst>
            <pc:docMk/>
            <pc:sldMk cId="0" sldId="258"/>
            <ac:spMk id="25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52:01.785" v="64" actId="255"/>
          <ac:spMkLst>
            <pc:docMk/>
            <pc:sldMk cId="0" sldId="258"/>
            <ac:spMk id="27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52:18.037" v="66" actId="255"/>
          <ac:spMkLst>
            <pc:docMk/>
            <pc:sldMk cId="0" sldId="258"/>
            <ac:spMk id="29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52:40.150" v="68" actId="255"/>
          <ac:spMkLst>
            <pc:docMk/>
            <pc:sldMk cId="0" sldId="258"/>
            <ac:spMk id="31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53:13.239" v="72" actId="255"/>
          <ac:spMkLst>
            <pc:docMk/>
            <pc:sldMk cId="0" sldId="258"/>
            <ac:spMk id="33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52:57.671" v="70" actId="255"/>
          <ac:spMkLst>
            <pc:docMk/>
            <pc:sldMk cId="0" sldId="258"/>
            <ac:spMk id="35" creationId="{00000000-0000-0000-0000-000000000000}"/>
          </ac:spMkLst>
        </pc:spChg>
      </pc:sldChg>
      <pc:sldChg chg="modSp mod">
        <pc:chgData name="Satwik Mitra" userId="fd86c018dbd25f76" providerId="LiveId" clId="{BB976EA2-3775-47D4-B8C3-1BC5F0D9E22E}" dt="2026-09-20T20:59:46.917" v="101" actId="255"/>
        <pc:sldMkLst>
          <pc:docMk/>
          <pc:sldMk cId="0" sldId="259"/>
        </pc:sldMkLst>
        <pc:spChg chg="mod">
          <ac:chgData name="Satwik Mitra" userId="fd86c018dbd25f76" providerId="LiveId" clId="{BB976EA2-3775-47D4-B8C3-1BC5F0D9E22E}" dt="2026-09-20T20:59:46.917" v="101" actId="255"/>
          <ac:spMkLst>
            <pc:docMk/>
            <pc:sldMk cId="0" sldId="259"/>
            <ac:spMk id="4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53:57.099" v="74" actId="255"/>
          <ac:spMkLst>
            <pc:docMk/>
            <pc:sldMk cId="0" sldId="259"/>
            <ac:spMk id="10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54:25.335" v="77" actId="1076"/>
          <ac:spMkLst>
            <pc:docMk/>
            <pc:sldMk cId="0" sldId="259"/>
            <ac:spMk id="11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54:30.273" v="78" actId="1076"/>
          <ac:spMkLst>
            <pc:docMk/>
            <pc:sldMk cId="0" sldId="259"/>
            <ac:spMk id="12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54:49.283" v="80" actId="255"/>
          <ac:spMkLst>
            <pc:docMk/>
            <pc:sldMk cId="0" sldId="259"/>
            <ac:spMk id="14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55:30.315" v="85" actId="1076"/>
          <ac:spMkLst>
            <pc:docMk/>
            <pc:sldMk cId="0" sldId="259"/>
            <ac:spMk id="15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55:48.099" v="87" actId="255"/>
          <ac:spMkLst>
            <pc:docMk/>
            <pc:sldMk cId="0" sldId="259"/>
            <ac:spMk id="16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56:14.171" v="89" actId="255"/>
          <ac:spMkLst>
            <pc:docMk/>
            <pc:sldMk cId="0" sldId="259"/>
            <ac:spMk id="18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55:25.686" v="84" actId="255"/>
          <ac:spMkLst>
            <pc:docMk/>
            <pc:sldMk cId="0" sldId="259"/>
            <ac:spMk id="20" creationId="{00000000-0000-0000-0000-000000000000}"/>
          </ac:spMkLst>
        </pc:spChg>
      </pc:sldChg>
      <pc:sldChg chg="modSp mod">
        <pc:chgData name="Satwik Mitra" userId="fd86c018dbd25f76" providerId="LiveId" clId="{BB976EA2-3775-47D4-B8C3-1BC5F0D9E22E}" dt="2026-09-20T21:00:23.825" v="105" actId="255"/>
        <pc:sldMkLst>
          <pc:docMk/>
          <pc:sldMk cId="0" sldId="260"/>
        </pc:sldMkLst>
        <pc:spChg chg="mod">
          <ac:chgData name="Satwik Mitra" userId="fd86c018dbd25f76" providerId="LiveId" clId="{BB976EA2-3775-47D4-B8C3-1BC5F0D9E22E}" dt="2026-09-20T21:00:23.825" v="105" actId="255"/>
          <ac:spMkLst>
            <pc:docMk/>
            <pc:sldMk cId="0" sldId="260"/>
            <ac:spMk id="4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56:44.712" v="91" actId="255"/>
          <ac:spMkLst>
            <pc:docMk/>
            <pc:sldMk cId="0" sldId="260"/>
            <ac:spMk id="10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57:01.993" v="93" actId="255"/>
          <ac:spMkLst>
            <pc:docMk/>
            <pc:sldMk cId="0" sldId="260"/>
            <ac:spMk id="15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57:16.640" v="95" actId="255"/>
          <ac:spMkLst>
            <pc:docMk/>
            <pc:sldMk cId="0" sldId="260"/>
            <ac:spMk id="17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57:32.373" v="97" actId="255"/>
          <ac:spMkLst>
            <pc:docMk/>
            <pc:sldMk cId="0" sldId="260"/>
            <ac:spMk id="19" creationId="{00000000-0000-0000-0000-000000000000}"/>
          </ac:spMkLst>
        </pc:spChg>
        <pc:spChg chg="mod">
          <ac:chgData name="Satwik Mitra" userId="fd86c018dbd25f76" providerId="LiveId" clId="{BB976EA2-3775-47D4-B8C3-1BC5F0D9E22E}" dt="2026-09-20T20:57:44.316" v="99" actId="255"/>
          <ac:spMkLst>
            <pc:docMk/>
            <pc:sldMk cId="0" sldId="260"/>
            <ac:spMk id="21" creationId="{00000000-0000-0000-0000-000000000000}"/>
          </ac:spMkLst>
        </pc:spChg>
      </pc:sldChg>
      <pc:sldChg chg="modSp add mod">
        <pc:chgData name="Satwik Mitra" userId="fd86c018dbd25f76" providerId="LiveId" clId="{BB976EA2-3775-47D4-B8C3-1BC5F0D9E22E}" dt="2026-09-23T08:21:07.732" v="142" actId="20577"/>
        <pc:sldMkLst>
          <pc:docMk/>
          <pc:sldMk cId="3916788613" sldId="296"/>
        </pc:sldMkLst>
        <pc:spChg chg="mod">
          <ac:chgData name="Satwik Mitra" userId="fd86c018dbd25f76" providerId="LiveId" clId="{BB976EA2-3775-47D4-B8C3-1BC5F0D9E22E}" dt="2026-09-23T08:21:07.732" v="142" actId="20577"/>
          <ac:spMkLst>
            <pc:docMk/>
            <pc:sldMk cId="3916788613" sldId="296"/>
            <ac:spMk id="8" creationId="{8D76F49D-4893-747D-56E6-3BEC62026443}"/>
          </ac:spMkLst>
        </pc:spChg>
        <pc:spChg chg="mod">
          <ac:chgData name="Satwik Mitra" userId="fd86c018dbd25f76" providerId="LiveId" clId="{BB976EA2-3775-47D4-B8C3-1BC5F0D9E22E}" dt="2026-09-20T21:03:39.494" v="114" actId="1076"/>
          <ac:spMkLst>
            <pc:docMk/>
            <pc:sldMk cId="3916788613" sldId="296"/>
            <ac:spMk id="9" creationId="{5DBCE864-823D-4A13-9607-5DA1F0ED5FB8}"/>
          </ac:spMkLst>
        </pc:spChg>
        <pc:spChg chg="mod">
          <ac:chgData name="Satwik Mitra" userId="fd86c018dbd25f76" providerId="LiveId" clId="{BB976EA2-3775-47D4-B8C3-1BC5F0D9E22E}" dt="2026-09-20T21:03:36.420" v="113" actId="1076"/>
          <ac:spMkLst>
            <pc:docMk/>
            <pc:sldMk cId="3916788613" sldId="296"/>
            <ac:spMk id="17409" creationId="{00000000-0000-0000-0000-000000000000}"/>
          </ac:spMkLst>
        </pc:spChg>
      </pc:sldChg>
      <pc:sldChg chg="delSp modSp add mod delDesignElem">
        <pc:chgData name="Satwik Mitra" userId="fd86c018dbd25f76" providerId="LiveId" clId="{BB976EA2-3775-47D4-B8C3-1BC5F0D9E22E}" dt="2026-09-23T16:52:22.009" v="154" actId="20577"/>
        <pc:sldMkLst>
          <pc:docMk/>
          <pc:sldMk cId="0" sldId="298"/>
        </pc:sldMkLst>
        <pc:spChg chg="mod">
          <ac:chgData name="Satwik Mitra" userId="fd86c018dbd25f76" providerId="LiveId" clId="{BB976EA2-3775-47D4-B8C3-1BC5F0D9E22E}" dt="2026-09-23T16:52:22.009" v="154" actId="20577"/>
          <ac:spMkLst>
            <pc:docMk/>
            <pc:sldMk cId="0" sldId="298"/>
            <ac:spMk id="10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656F83-04A1-4509-B21A-0A519DA96992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35070D-C9C0-4F51-92D9-8A856E28D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7976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data.marine.copernicus.eu/product/GLOBAL_MULTIYEAR_PHY_001_030/description" TargetMode="External"/><Relationship Id="rId5" Type="http://schemas.openxmlformats.org/officeDocument/2006/relationships/hyperlink" Target="https://www.incois.gov.in/site/datainfo/OON.jsp" TargetMode="External"/><Relationship Id="rId6" Type="http://schemas.openxmlformats.org/officeDocument/2006/relationships/hyperlink" Target="https://www.incois.gov.in/site/services/osf.jsp" TargetMode="External"/><Relationship Id="rId7" Type="http://schemas.openxmlformats.org/officeDocument/2006/relationships/hyperlink" Target="https://help.marine.copernicus.eu/en/collections/15503112-product-documentation" TargetMode="External"/><Relationship Id="rId8" Type="http://schemas.openxmlformats.org/officeDocument/2006/relationships/hyperlink" Target="https://ocean-3-d-alpha.vercel.ap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8295135" y="163921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491064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93356" y="1896283"/>
            <a:ext cx="5924550" cy="464742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endParaRPr lang="en-US" sz="2000" dirty="0"/>
          </a:p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lang="en-IN" sz="2000" b="1" i="1" dirty="0">
                <a:solidFill>
                  <a:srgbClr val="7030A0"/>
                </a:solidFill>
              </a:rPr>
              <a:t>SIH26067</a:t>
            </a:r>
          </a:p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sz="2000" b="1" i="1" dirty="0">
              <a:solidFill>
                <a:srgbClr val="7030A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lang="en-IN" sz="2000" b="1" i="1" dirty="0">
                <a:solidFill>
                  <a:srgbClr val="7030A0"/>
                </a:solidFill>
              </a:rPr>
              <a:t> Develop a web-based interactive 3D visualization platform that integrates numerical ocean model outputs and in-situ observations</a:t>
            </a:r>
            <a:r>
              <a:rPr lang="en-IN" sz="2000" b="1" i="1" dirty="0"/>
              <a:t>.</a:t>
            </a:r>
            <a:endParaRPr lang="en-US" sz="2000" b="1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lang="en-US" sz="2000" b="1" i="1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Disaster Management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lang="en-US" sz="2000" b="1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  <a:endParaRPr lang="en-US" sz="2400" b="1" dirty="0">
              <a:solidFill>
                <a:srgbClr val="7030A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Name-</a:t>
            </a:r>
            <a:r>
              <a:rPr lang="en-IN" sz="2800" b="1" dirty="0" err="1">
                <a:solidFill>
                  <a:srgbClr val="7030A0"/>
                </a:solidFill>
              </a:rPr>
              <a:t>AquaNova</a:t>
            </a:r>
            <a:endParaRPr lang="en-IN" sz="2800" b="1" dirty="0">
              <a:solidFill>
                <a:srgbClr val="7030A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8490" y="-13274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crop_aquanov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2608"/>
            <a:ext cx="137160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03120" y="256032"/>
            <a:ext cx="73152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102542"/>
                </a:solidFill>
                <a:latin typeface="Arial"/>
              </a:defRPr>
            </a:pPr>
            <a:r>
              <a:t>IDEA TITLE</a:t>
            </a:r>
          </a:p>
          <a:p>
            <a:pPr algn="ctr">
              <a:defRPr sz="1400" b="0">
                <a:solidFill>
                  <a:srgbClr val="2563EB"/>
                </a:solidFill>
                <a:latin typeface="Arial"/>
              </a:defRPr>
            </a:pPr>
            <a:r>
              <a:t>Proposed Solution (AquaNova — 4D Ocean Digital Twin &amp; Simulation Platform)</a:t>
            </a:r>
          </a:p>
        </p:txBody>
      </p:sp>
      <p:pic>
        <p:nvPicPr>
          <p:cNvPr id="5" name="Picture 4" descr="slide_1_Picture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228600"/>
            <a:ext cx="1920240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474720" y="987552"/>
            <a:ext cx="4572000" cy="22860"/>
          </a:xfrm>
          <a:prstGeom prst="rect">
            <a:avLst/>
          </a:prstGeom>
          <a:solidFill>
            <a:srgbClr val="388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649224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37960"/>
            <a:ext cx="1109441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@SIH Idea submission- Template</a:t>
            </a:r>
          </a:p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15568"/>
            <a:ext cx="4023360" cy="1051560"/>
          </a:xfrm>
          <a:prstGeom prst="roundRect">
            <a:avLst/>
          </a:prstGeom>
          <a:solidFill>
            <a:srgbClr val="EEF5FE"/>
          </a:solidFill>
          <a:ln w="12700">
            <a:solidFill>
              <a:srgbClr val="A0C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188720"/>
            <a:ext cx="3749040" cy="8258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C3A73"/>
                </a:solidFill>
                <a:latin typeface="Arial"/>
              </a:defRPr>
            </a:pPr>
            <a:r>
              <a:rPr sz="1600" dirty="0"/>
              <a:t>Interactive 3D WebGL Ocean Twin</a:t>
            </a:r>
          </a:p>
          <a:p>
            <a:pPr>
              <a:spcBef>
                <a:spcPts val="200"/>
              </a:spcBef>
              <a:defRPr sz="90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4D oceanographic </a:t>
            </a:r>
            <a:r>
              <a:rPr sz="1200" dirty="0" err="1"/>
              <a:t>NetCDF</a:t>
            </a:r>
            <a:r>
              <a:rPr sz="1200" dirty="0"/>
              <a:t> datasets (Latitude, Longitude, Depth, Time) rendered in a real-time interactive 3D grid with smooth, realistic ocean surface</a:t>
            </a:r>
            <a:r>
              <a:rPr dirty="0"/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40280"/>
            <a:ext cx="4023360" cy="1051560"/>
          </a:xfrm>
          <a:prstGeom prst="roundRect">
            <a:avLst/>
          </a:prstGeom>
          <a:solidFill>
            <a:srgbClr val="EEF8F6"/>
          </a:solidFill>
          <a:ln w="12700">
            <a:solidFill>
              <a:srgbClr val="9B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313432"/>
            <a:ext cx="3749040" cy="10105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5F50"/>
                </a:solidFill>
                <a:latin typeface="Arial"/>
              </a:defRPr>
            </a:pPr>
            <a:r>
              <a:rPr sz="1600" dirty="0"/>
              <a:t>Multi-Variable Physical Layering</a:t>
            </a:r>
          </a:p>
          <a:p>
            <a:pPr>
              <a:spcBef>
                <a:spcPts val="200"/>
              </a:spcBef>
              <a:defRPr sz="90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Sea Water Potential Temperature (</a:t>
            </a:r>
            <a:r>
              <a:rPr sz="1200" dirty="0" err="1"/>
              <a:t>thetao</a:t>
            </a:r>
            <a:r>
              <a:rPr sz="1200" dirty="0"/>
              <a:t>), Salinity (so), and Eastward/Northward Current Velocities (</a:t>
            </a:r>
            <a:r>
              <a:rPr sz="1200" dirty="0" err="1"/>
              <a:t>uo</a:t>
            </a:r>
            <a:r>
              <a:rPr sz="1200" dirty="0"/>
              <a:t>, </a:t>
            </a:r>
            <a:r>
              <a:rPr sz="1200" dirty="0" err="1"/>
              <a:t>vo</a:t>
            </a:r>
            <a:r>
              <a:rPr sz="1200" dirty="0"/>
              <a:t>) visualized in separate layers (0m to 2000m+) with real-time control</a:t>
            </a:r>
            <a:r>
              <a:rPr dirty="0"/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364992"/>
            <a:ext cx="4023360" cy="1051560"/>
          </a:xfrm>
          <a:prstGeom prst="roundRect">
            <a:avLst/>
          </a:prstGeom>
          <a:solidFill>
            <a:srgbClr val="FEF8E8"/>
          </a:solidFill>
          <a:ln w="12700">
            <a:solidFill>
              <a:srgbClr val="F5D7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438144"/>
            <a:ext cx="3749040" cy="918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82500A"/>
                </a:solidFill>
                <a:latin typeface="Arial"/>
              </a:defRPr>
            </a:pPr>
            <a:r>
              <a:rPr sz="1600" dirty="0"/>
              <a:t>Temporal &amp; Scenario Simulation</a:t>
            </a:r>
          </a:p>
          <a:p>
            <a:pPr>
              <a:spcBef>
                <a:spcPts val="200"/>
              </a:spcBef>
              <a:defRPr sz="900">
                <a:solidFill>
                  <a:srgbClr val="1E293B"/>
                </a:solidFill>
                <a:latin typeface="Arial"/>
              </a:defRPr>
            </a:pPr>
            <a:r>
              <a:rPr sz="1400" dirty="0"/>
              <a:t>4D time-slider with dynamic what-if simulation modes (Baseline, Cyclone Impact, Monsoon Surge) using historical data playback</a:t>
            </a:r>
            <a:r>
              <a:rPr dirty="0"/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531621"/>
            <a:ext cx="4023360" cy="1739499"/>
          </a:xfrm>
          <a:prstGeom prst="roundRect">
            <a:avLst/>
          </a:prstGeom>
          <a:solidFill>
            <a:srgbClr val="EEF5FE"/>
          </a:solidFill>
          <a:ln w="12700">
            <a:solidFill>
              <a:srgbClr val="A0C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" y="4626864"/>
            <a:ext cx="3803904" cy="1159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C3A73"/>
                </a:solidFill>
                <a:latin typeface="Arial"/>
              </a:defRPr>
            </a:pPr>
            <a:r>
              <a:rPr sz="1600" dirty="0"/>
              <a:t>How It Addresses the Problem</a:t>
            </a:r>
          </a:p>
          <a:p>
            <a:pPr>
              <a:spcBef>
                <a:spcPts val="200"/>
              </a:spcBef>
              <a:defRPr sz="800">
                <a:solidFill>
                  <a:srgbClr val="8C1919"/>
                </a:solidFill>
                <a:latin typeface="Arial"/>
              </a:defRPr>
            </a:pPr>
            <a:r>
              <a:rPr sz="1200" dirty="0"/>
              <a:t>• </a:t>
            </a:r>
            <a:r>
              <a:rPr sz="1400" dirty="0"/>
              <a:t>Traditional Gap: Static 2D maps lack depth sense; non-programmers face </a:t>
            </a:r>
            <a:r>
              <a:rPr sz="1400" dirty="0" err="1"/>
              <a:t>NetCDF</a:t>
            </a:r>
            <a:r>
              <a:rPr sz="1400" dirty="0"/>
              <a:t> difficulty.</a:t>
            </a:r>
          </a:p>
          <a:p>
            <a:pPr>
              <a:spcBef>
                <a:spcPts val="200"/>
              </a:spcBef>
              <a:defRPr sz="800">
                <a:solidFill>
                  <a:srgbClr val="0E5F50"/>
                </a:solidFill>
                <a:latin typeface="Arial"/>
              </a:defRPr>
            </a:pPr>
            <a:r>
              <a:rPr sz="1400" dirty="0"/>
              <a:t>• Our Bridge: Zero-installation web 3D twin with real-time multi-variable depth control.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09160" y="4553712"/>
            <a:ext cx="4206240" cy="1810512"/>
          </a:xfrm>
          <a:prstGeom prst="roundRect">
            <a:avLst/>
          </a:prstGeom>
          <a:solidFill>
            <a:srgbClr val="EEF8F6"/>
          </a:solidFill>
          <a:ln w="12700">
            <a:solidFill>
              <a:srgbClr val="9B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83480" y="4552139"/>
            <a:ext cx="3931920" cy="18261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E5F50"/>
                </a:solidFill>
                <a:latin typeface="Arial"/>
              </a:defRPr>
            </a:pPr>
            <a:r>
              <a:rPr sz="1400" dirty="0"/>
              <a:t>Innovation and Uniqueness of Solution</a:t>
            </a:r>
          </a:p>
          <a:p>
            <a:pPr>
              <a:spcBef>
                <a:spcPts val="200"/>
              </a:spcBef>
              <a:defRPr sz="80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Hybrid 3D Engine: Spatial </a:t>
            </a:r>
            <a:r>
              <a:rPr sz="1200" dirty="0" err="1"/>
              <a:t>downsampling</a:t>
            </a:r>
            <a:r>
              <a:rPr sz="1200" dirty="0"/>
              <a:t> stride (60 FPS WebGL rendering without lag).</a:t>
            </a:r>
          </a:p>
          <a:p>
            <a:pPr>
              <a:spcBef>
                <a:spcPts val="200"/>
              </a:spcBef>
              <a:defRPr sz="80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Ocean AI Assistant: Real-time contextual marine query engine for anomalies &amp; drift.</a:t>
            </a:r>
          </a:p>
          <a:p>
            <a:pPr>
              <a:spcBef>
                <a:spcPts val="200"/>
              </a:spcBef>
              <a:defRPr sz="80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Model vs In-situ: Copernicus reanalysis + buoy visual validation for trusted insights.</a:t>
            </a:r>
          </a:p>
          <a:p>
            <a:pPr>
              <a:spcBef>
                <a:spcPts val="200"/>
              </a:spcBef>
              <a:defRPr sz="80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Advanced Features: Cyclone prediction support, AI alerts, voice queries, anomaly detection</a:t>
            </a:r>
            <a:r>
              <a:rPr sz="1400" dirty="0"/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2560" y="4553712"/>
            <a:ext cx="2590495" cy="1810512"/>
          </a:xfrm>
          <a:prstGeom prst="roundRect">
            <a:avLst/>
          </a:prstGeom>
          <a:solidFill>
            <a:srgbClr val="FEF8E8"/>
          </a:solidFill>
          <a:ln w="12700">
            <a:solidFill>
              <a:srgbClr val="F5D7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26880" y="4531621"/>
            <a:ext cx="2316175" cy="18466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82500A"/>
                </a:solidFill>
                <a:latin typeface="Arial"/>
              </a:defRPr>
            </a:pPr>
            <a:r>
              <a:rPr sz="1400" dirty="0"/>
              <a:t>Key Data Sources</a:t>
            </a:r>
          </a:p>
          <a:p>
            <a:pPr>
              <a:spcBef>
                <a:spcPts val="250"/>
              </a:spcBef>
              <a:defRPr sz="80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INCOIS LAS: Numerical ocean model outputs</a:t>
            </a:r>
          </a:p>
          <a:p>
            <a:pPr>
              <a:spcBef>
                <a:spcPts val="250"/>
              </a:spcBef>
              <a:defRPr sz="80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Copernicus Marine: GLORYS12V1 reanalysis</a:t>
            </a:r>
          </a:p>
          <a:p>
            <a:pPr>
              <a:spcBef>
                <a:spcPts val="250"/>
              </a:spcBef>
              <a:defRPr sz="80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Argo FTP: Global in-situ float observations</a:t>
            </a:r>
          </a:p>
          <a:p>
            <a:pPr>
              <a:spcBef>
                <a:spcPts val="250"/>
              </a:spcBef>
              <a:defRPr sz="80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Glider FTP: Subsurface glider profiles</a:t>
            </a:r>
          </a:p>
        </p:txBody>
      </p:sp>
      <p:pic>
        <p:nvPicPr>
          <p:cNvPr id="25" name="Picture 24" descr="mockup_wind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1115568"/>
            <a:ext cx="6931152" cy="33009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crop_aquanov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2608"/>
            <a:ext cx="137160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03120" y="256032"/>
            <a:ext cx="73152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0F2244"/>
                </a:solidFill>
                <a:latin typeface="Arial"/>
              </a:defRPr>
            </a:pPr>
            <a:r>
              <a:rPr sz="3200" dirty="0"/>
              <a:t>TECHNICAL APPROACH</a:t>
            </a:r>
          </a:p>
          <a:p>
            <a:pPr algn="ctr">
              <a:defRPr sz="1100">
                <a:solidFill>
                  <a:srgbClr val="3882D6"/>
                </a:solidFill>
                <a:latin typeface="Arial"/>
              </a:defRPr>
            </a:pPr>
            <a:r>
              <a:rPr dirty="0"/>
              <a:t>From Ocean Data to Actionable Insights (Architecture &amp; Technology Stack)</a:t>
            </a:r>
          </a:p>
        </p:txBody>
      </p:sp>
      <p:pic>
        <p:nvPicPr>
          <p:cNvPr id="5" name="Picture 4" descr="slide_1_Picture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228600"/>
            <a:ext cx="1920240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474720" y="987552"/>
            <a:ext cx="4572000" cy="22860"/>
          </a:xfrm>
          <a:prstGeom prst="rect">
            <a:avLst/>
          </a:prstGeom>
          <a:solidFill>
            <a:srgbClr val="388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649224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37960"/>
            <a:ext cx="1109441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@SIH Idea submission- Template</a:t>
            </a:r>
          </a:p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097280"/>
            <a:ext cx="2084831" cy="1874519"/>
          </a:xfrm>
          <a:prstGeom prst="roundRect">
            <a:avLst/>
          </a:prstGeom>
          <a:solidFill>
            <a:srgbClr val="EEF5FE"/>
          </a:solidFill>
          <a:ln w="15240">
            <a:solidFill>
              <a:srgbClr val="A0C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149681"/>
            <a:ext cx="1865375" cy="17697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C3A73"/>
                </a:solidFill>
                <a:latin typeface="Arial"/>
              </a:defRPr>
            </a:pPr>
            <a:r>
              <a:rPr dirty="0"/>
              <a:t>1</a:t>
            </a:r>
            <a:r>
              <a:rPr sz="1400" dirty="0"/>
              <a:t>. Data Acquisition</a:t>
            </a:r>
          </a:p>
          <a:p>
            <a:pPr>
              <a:spcBef>
                <a:spcPts val="200"/>
              </a:spcBef>
              <a:defRPr sz="78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Collect ocean data from multiple sources</a:t>
            </a:r>
          </a:p>
          <a:p>
            <a:pPr>
              <a:spcBef>
                <a:spcPts val="200"/>
              </a:spcBef>
              <a:defRPr sz="78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Numerical model outputs (e.g., Copernicus GLORYS12V1)</a:t>
            </a:r>
          </a:p>
          <a:p>
            <a:pPr>
              <a:spcBef>
                <a:spcPts val="200"/>
              </a:spcBef>
              <a:defRPr sz="78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In-situ observations (buoys, Argo, gliders, ships)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98063" y="1097280"/>
            <a:ext cx="2084831" cy="1874519"/>
          </a:xfrm>
          <a:prstGeom prst="roundRect">
            <a:avLst/>
          </a:prstGeom>
          <a:solidFill>
            <a:srgbClr val="EEF8F6"/>
          </a:solidFill>
          <a:ln w="15240">
            <a:solidFill>
              <a:srgbClr val="9B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07791" y="1170432"/>
            <a:ext cx="1865375" cy="142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E5F50"/>
                </a:solidFill>
                <a:latin typeface="Arial"/>
              </a:defRPr>
            </a:pPr>
            <a:r>
              <a:rPr dirty="0"/>
              <a:t>2. </a:t>
            </a:r>
            <a:r>
              <a:rPr sz="1400" dirty="0"/>
              <a:t>Data Processing</a:t>
            </a:r>
          </a:p>
          <a:p>
            <a:pPr>
              <a:spcBef>
                <a:spcPts val="200"/>
              </a:spcBef>
              <a:defRPr sz="78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Clean, standardize and prepare data</a:t>
            </a:r>
          </a:p>
          <a:p>
            <a:pPr>
              <a:spcBef>
                <a:spcPts val="200"/>
              </a:spcBef>
              <a:defRPr sz="78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Handle missing values</a:t>
            </a:r>
          </a:p>
          <a:p>
            <a:pPr>
              <a:spcBef>
                <a:spcPts val="200"/>
              </a:spcBef>
              <a:defRPr sz="78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Remove outliers</a:t>
            </a:r>
          </a:p>
          <a:p>
            <a:pPr>
              <a:spcBef>
                <a:spcPts val="200"/>
              </a:spcBef>
              <a:defRPr sz="78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Quality &amp; consistency checks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7486" y="1097280"/>
            <a:ext cx="2084831" cy="1874519"/>
          </a:xfrm>
          <a:prstGeom prst="roundRect">
            <a:avLst/>
          </a:prstGeom>
          <a:solidFill>
            <a:srgbClr val="FEF8E8"/>
          </a:solidFill>
          <a:ln w="15240">
            <a:solidFill>
              <a:srgbClr val="F5D7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39512" y="1149681"/>
            <a:ext cx="1865375" cy="17953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82500A"/>
                </a:solidFill>
                <a:latin typeface="Arial"/>
              </a:defRPr>
            </a:pPr>
            <a:r>
              <a:rPr sz="1400" dirty="0"/>
              <a:t>3. Data Integration</a:t>
            </a:r>
          </a:p>
          <a:p>
            <a:pPr>
              <a:spcBef>
                <a:spcPts val="200"/>
              </a:spcBef>
              <a:defRPr sz="780">
                <a:solidFill>
                  <a:srgbClr val="1E293B"/>
                </a:solidFill>
                <a:latin typeface="Arial"/>
              </a:defRPr>
            </a:pPr>
            <a:r>
              <a:rPr dirty="0"/>
              <a:t>• </a:t>
            </a:r>
            <a:r>
              <a:rPr sz="1200" dirty="0"/>
              <a:t>Unify model and in-situ data</a:t>
            </a:r>
          </a:p>
          <a:p>
            <a:pPr>
              <a:spcBef>
                <a:spcPts val="200"/>
              </a:spcBef>
              <a:defRPr sz="78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Align spatial grids &amp; timestamps</a:t>
            </a:r>
          </a:p>
          <a:p>
            <a:pPr>
              <a:spcBef>
                <a:spcPts val="200"/>
              </a:spcBef>
              <a:defRPr sz="78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Interpolate / coordinate mapping</a:t>
            </a:r>
          </a:p>
          <a:p>
            <a:pPr>
              <a:spcBef>
                <a:spcPts val="200"/>
              </a:spcBef>
              <a:defRPr sz="78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Prepare 3D tensor for visualization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96909" y="1097280"/>
            <a:ext cx="2084831" cy="1874519"/>
          </a:xfrm>
          <a:prstGeom prst="roundRect">
            <a:avLst/>
          </a:prstGeom>
          <a:solidFill>
            <a:srgbClr val="F4F0FC"/>
          </a:solidFill>
          <a:ln w="15240">
            <a:solidFill>
              <a:srgbClr val="CDB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02116" y="1216829"/>
            <a:ext cx="1865375" cy="1656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B2882"/>
                </a:solidFill>
                <a:latin typeface="Arial"/>
              </a:defRPr>
            </a:pPr>
            <a:r>
              <a:rPr dirty="0"/>
              <a:t>4. </a:t>
            </a:r>
            <a:r>
              <a:rPr sz="1200" dirty="0"/>
              <a:t>Modelling &amp; Analysis</a:t>
            </a:r>
          </a:p>
          <a:p>
            <a:pPr>
              <a:spcBef>
                <a:spcPts val="200"/>
              </a:spcBef>
              <a:defRPr sz="78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</a:t>
            </a:r>
            <a:r>
              <a:rPr sz="1100" dirty="0"/>
              <a:t>Extract physical ocean insights</a:t>
            </a:r>
          </a:p>
          <a:p>
            <a:pPr>
              <a:spcBef>
                <a:spcPts val="200"/>
              </a:spcBef>
              <a:defRPr sz="780">
                <a:solidFill>
                  <a:srgbClr val="1E293B"/>
                </a:solidFill>
                <a:latin typeface="Arial"/>
              </a:defRPr>
            </a:pPr>
            <a:r>
              <a:rPr sz="1100" dirty="0"/>
              <a:t>• Compare model vs observation</a:t>
            </a:r>
          </a:p>
          <a:p>
            <a:pPr>
              <a:spcBef>
                <a:spcPts val="200"/>
              </a:spcBef>
              <a:defRPr sz="780">
                <a:solidFill>
                  <a:srgbClr val="1E293B"/>
                </a:solidFill>
                <a:latin typeface="Arial"/>
              </a:defRPr>
            </a:pPr>
            <a:r>
              <a:rPr sz="1100" dirty="0"/>
              <a:t>• Compute metrics (RMSE, MAE)</a:t>
            </a:r>
          </a:p>
          <a:p>
            <a:pPr>
              <a:spcBef>
                <a:spcPts val="200"/>
              </a:spcBef>
              <a:defRPr sz="780">
                <a:solidFill>
                  <a:srgbClr val="1E293B"/>
                </a:solidFill>
                <a:latin typeface="Arial"/>
              </a:defRPr>
            </a:pPr>
            <a:r>
              <a:rPr sz="1100" dirty="0"/>
              <a:t>• Detect anomalies &amp; thermal spikes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46332" y="1097280"/>
            <a:ext cx="2084831" cy="1874519"/>
          </a:xfrm>
          <a:prstGeom prst="roundRect">
            <a:avLst/>
          </a:prstGeom>
          <a:solidFill>
            <a:srgbClr val="EEF6FE"/>
          </a:solidFill>
          <a:ln w="15240">
            <a:solidFill>
              <a:srgbClr val="A5D2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56060" y="1170432"/>
            <a:ext cx="1865375" cy="1610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A4B7D"/>
                </a:solidFill>
                <a:latin typeface="Arial"/>
              </a:defRPr>
            </a:pPr>
            <a:r>
              <a:rPr sz="1400" dirty="0"/>
              <a:t>5. 3D Visualization</a:t>
            </a:r>
          </a:p>
          <a:p>
            <a:pPr>
              <a:spcBef>
                <a:spcPts val="200"/>
              </a:spcBef>
              <a:defRPr sz="780">
                <a:solidFill>
                  <a:srgbClr val="1E293B"/>
                </a:solidFill>
                <a:latin typeface="Arial"/>
              </a:defRPr>
            </a:pPr>
            <a:r>
              <a:rPr dirty="0"/>
              <a:t>• </a:t>
            </a:r>
            <a:r>
              <a:rPr sz="1200" dirty="0"/>
              <a:t>Interactive 3D WebGL ocean view</a:t>
            </a:r>
          </a:p>
          <a:p>
            <a:pPr>
              <a:spcBef>
                <a:spcPts val="200"/>
              </a:spcBef>
              <a:defRPr sz="78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Multi-depth scrubber controls</a:t>
            </a:r>
          </a:p>
          <a:p>
            <a:pPr>
              <a:spcBef>
                <a:spcPts val="200"/>
              </a:spcBef>
              <a:defRPr sz="78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Time playback &amp; scenario slider</a:t>
            </a:r>
          </a:p>
          <a:p>
            <a:pPr>
              <a:spcBef>
                <a:spcPts val="200"/>
              </a:spcBef>
              <a:defRPr sz="78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Zero-install web interface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90672"/>
            <a:ext cx="5303520" cy="3291840"/>
          </a:xfrm>
          <a:prstGeom prst="roundRect">
            <a:avLst/>
          </a:prstGeom>
          <a:solidFill>
            <a:srgbClr val="EEF5FE"/>
          </a:solidFill>
          <a:ln w="12700">
            <a:solidFill>
              <a:srgbClr val="A0C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3163824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C3A73"/>
                </a:solidFill>
                <a:latin typeface="Arial"/>
              </a:defRPr>
            </a:pPr>
            <a:r>
              <a:t>Interactive 3D Ocean Visualization (Sample Depth View)</a:t>
            </a:r>
          </a:p>
        </p:txBody>
      </p:sp>
      <p:pic>
        <p:nvPicPr>
          <p:cNvPr id="21" name="Picture 20" descr="crop_s3_depth_slice_cl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410712"/>
            <a:ext cx="5029200" cy="288036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035040" y="3090672"/>
            <a:ext cx="5608015" cy="3291840"/>
          </a:xfrm>
          <a:prstGeom prst="roundRect">
            <a:avLst/>
          </a:prstGeom>
          <a:solidFill>
            <a:srgbClr val="EEF8F6"/>
          </a:solidFill>
          <a:ln w="12700">
            <a:solidFill>
              <a:srgbClr val="9B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79368" y="3124235"/>
            <a:ext cx="170059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E5F50"/>
                </a:solidFill>
                <a:latin typeface="Arial"/>
              </a:defRPr>
            </a:pPr>
            <a:r>
              <a:rPr sz="1400" dirty="0"/>
              <a:t>Technology Stack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3438144"/>
            <a:ext cx="25603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B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91072" y="3493008"/>
            <a:ext cx="2377440" cy="4257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C3A73"/>
                </a:solidFill>
                <a:latin typeface="Arial"/>
              </a:defRPr>
            </a:pPr>
            <a:r>
              <a:rPr sz="1400" dirty="0"/>
              <a:t>Data Processing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Python • NumPy / Pandas • </a:t>
            </a:r>
            <a:r>
              <a:rPr sz="1200" dirty="0" err="1"/>
              <a:t>xarray</a:t>
            </a:r>
            <a:r>
              <a:rPr sz="1200" dirty="0"/>
              <a:t>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24544" y="3438144"/>
            <a:ext cx="25603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B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015984" y="3493008"/>
            <a:ext cx="2377440" cy="79508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E5F50"/>
                </a:solidFill>
                <a:latin typeface="Arial"/>
              </a:defRPr>
            </a:pPr>
            <a:r>
              <a:rPr sz="1400" dirty="0"/>
              <a:t>Modelling / Analysis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Copernicus (GLORYS12V1) • Statistical Models • TEOS-10 Physics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9632" y="4379976"/>
            <a:ext cx="25603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B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91072" y="4434840"/>
            <a:ext cx="2377440" cy="6104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A4B7D"/>
                </a:solidFill>
                <a:latin typeface="Arial"/>
              </a:defRPr>
            </a:pPr>
            <a:r>
              <a:rPr sz="1400" dirty="0"/>
              <a:t>3D Visualization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Three.js • WebGL Shaders • LOD Geometry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24544" y="4379976"/>
            <a:ext cx="25603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B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015984" y="4434840"/>
            <a:ext cx="2377440" cy="6104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82500A"/>
                </a:solidFill>
                <a:latin typeface="Arial"/>
              </a:defRPr>
            </a:pPr>
            <a:r>
              <a:rPr sz="1400" dirty="0"/>
              <a:t>Frontend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React.js (Vite) • JavaScript (ES6+) • Chart.js / CSS3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9632" y="5321808"/>
            <a:ext cx="25603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B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91072" y="5376672"/>
            <a:ext cx="2377440" cy="6104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4B2882"/>
                </a:solidFill>
                <a:latin typeface="Arial"/>
              </a:defRPr>
            </a:pPr>
            <a:r>
              <a:rPr sz="1400" dirty="0"/>
              <a:t>Backend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rPr sz="1200" dirty="0" err="1"/>
              <a:t>FastAPI</a:t>
            </a:r>
            <a:r>
              <a:rPr sz="1200" dirty="0"/>
              <a:t> • PostgreSQL / MongoDB • </a:t>
            </a:r>
            <a:r>
              <a:rPr sz="1200" dirty="0" err="1"/>
              <a:t>Pydantic</a:t>
            </a:r>
            <a:r>
              <a:rPr sz="1200" dirty="0"/>
              <a:t> &amp; </a:t>
            </a:r>
            <a:r>
              <a:rPr sz="1200" dirty="0" err="1"/>
              <a:t>WebSockets</a:t>
            </a:r>
            <a:endParaRPr sz="1200" dirty="0"/>
          </a:p>
        </p:txBody>
      </p:sp>
      <p:sp>
        <p:nvSpPr>
          <p:cNvPr id="34" name="Rounded Rectangle 33"/>
          <p:cNvSpPr/>
          <p:nvPr/>
        </p:nvSpPr>
        <p:spPr>
          <a:xfrm>
            <a:off x="8924544" y="5321808"/>
            <a:ext cx="25603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B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015984" y="5376672"/>
            <a:ext cx="2377440" cy="6104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F2244"/>
                </a:solidFill>
                <a:latin typeface="Arial"/>
              </a:defRPr>
            </a:pPr>
            <a:r>
              <a:rPr sz="1400" dirty="0"/>
              <a:t>Deployment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Docker Containers • </a:t>
            </a:r>
            <a:r>
              <a:rPr sz="1200" dirty="0" err="1"/>
              <a:t>Vercel</a:t>
            </a:r>
            <a:r>
              <a:rPr sz="1200" dirty="0"/>
              <a:t> / AWS EC2 • CI/CD (GitHub Actions)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crop_aquanov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2608"/>
            <a:ext cx="137160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03120" y="256032"/>
            <a:ext cx="7315200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0F2244"/>
                </a:solidFill>
                <a:latin typeface="Arial"/>
              </a:defRPr>
            </a:pPr>
            <a:r>
              <a:rPr sz="3200" dirty="0"/>
              <a:t>FEASIBILITY AND VIABILITY</a:t>
            </a:r>
          </a:p>
        </p:txBody>
      </p:sp>
      <p:pic>
        <p:nvPicPr>
          <p:cNvPr id="5" name="Picture 4" descr="slide_1_Picture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228600"/>
            <a:ext cx="1920240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474720" y="987552"/>
            <a:ext cx="4572000" cy="22860"/>
          </a:xfrm>
          <a:prstGeom prst="rect">
            <a:avLst/>
          </a:prstGeom>
          <a:solidFill>
            <a:srgbClr val="388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649224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37960"/>
            <a:ext cx="1109441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@SIH Idea submission- Template</a:t>
            </a:r>
          </a:p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88720"/>
            <a:ext cx="3566160" cy="2468880"/>
          </a:xfrm>
          <a:prstGeom prst="roundRect">
            <a:avLst/>
          </a:prstGeom>
          <a:solidFill>
            <a:srgbClr val="EEF5FE"/>
          </a:solidFill>
          <a:ln w="15240">
            <a:solidFill>
              <a:srgbClr val="A0C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280160"/>
            <a:ext cx="3291840" cy="21852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C3A73"/>
                </a:solidFill>
                <a:latin typeface="Arial"/>
              </a:defRPr>
            </a:pPr>
            <a:r>
              <a:rPr sz="1200" dirty="0"/>
              <a:t>1. Technical Feasibility</a:t>
            </a:r>
          </a:p>
          <a:p>
            <a:pPr>
              <a:spcBef>
                <a:spcPts val="250"/>
              </a:spcBef>
              <a:defRPr sz="850" b="1">
                <a:solidFill>
                  <a:srgbClr val="1E293B"/>
                </a:solidFill>
                <a:latin typeface="Arial"/>
              </a:defRPr>
            </a:pPr>
            <a:r>
              <a:rPr sz="1100" dirty="0"/>
              <a:t>• Proven Technologies: </a:t>
            </a:r>
            <a:r>
              <a:rPr sz="1100" b="0" dirty="0">
                <a:solidFill>
                  <a:srgbClr val="1E293B"/>
                </a:solidFill>
              </a:rPr>
              <a:t>Uses Python, React, Three.js, WebGL and open-source ocean data (Copernicus, INCOIS).</a:t>
            </a:r>
          </a:p>
          <a:p>
            <a:pPr>
              <a:spcBef>
                <a:spcPts val="250"/>
              </a:spcBef>
              <a:defRPr sz="850" b="1">
                <a:solidFill>
                  <a:srgbClr val="1E293B"/>
                </a:solidFill>
                <a:latin typeface="Arial"/>
              </a:defRPr>
            </a:pPr>
            <a:r>
              <a:rPr sz="1100" dirty="0"/>
              <a:t>• Scalable Architecture: </a:t>
            </a:r>
            <a:r>
              <a:rPr sz="1100" b="0" dirty="0">
                <a:solidFill>
                  <a:srgbClr val="1E293B"/>
                </a:solidFill>
              </a:rPr>
              <a:t>Modular design; easy to extend with more physical variables or data sources.</a:t>
            </a:r>
          </a:p>
          <a:p>
            <a:pPr>
              <a:spcBef>
                <a:spcPts val="250"/>
              </a:spcBef>
              <a:defRPr sz="850" b="1">
                <a:solidFill>
                  <a:srgbClr val="1E293B"/>
                </a:solidFill>
                <a:latin typeface="Arial"/>
              </a:defRPr>
            </a:pPr>
            <a:r>
              <a:rPr sz="1100" dirty="0"/>
              <a:t>• Feasible Implementation: </a:t>
            </a:r>
            <a:r>
              <a:rPr sz="1100" b="0" dirty="0">
                <a:solidFill>
                  <a:srgbClr val="1E293B"/>
                </a:solidFill>
              </a:rPr>
              <a:t>Can be developed with available tools, documentation and community support.</a:t>
            </a:r>
          </a:p>
          <a:p>
            <a:pPr>
              <a:spcBef>
                <a:spcPts val="250"/>
              </a:spcBef>
              <a:defRPr sz="850" b="1">
                <a:solidFill>
                  <a:srgbClr val="1E293B"/>
                </a:solidFill>
                <a:latin typeface="Arial"/>
              </a:defRPr>
            </a:pPr>
            <a:r>
              <a:rPr sz="1100" dirty="0"/>
              <a:t>• Real-time / Near Real-time: </a:t>
            </a:r>
            <a:r>
              <a:rPr sz="1100" b="0" dirty="0">
                <a:solidFill>
                  <a:srgbClr val="1E293B"/>
                </a:solidFill>
              </a:rPr>
              <a:t>Supports live and historical data visualization with smooth performance (subsampling</a:t>
            </a:r>
            <a:r>
              <a:rPr b="0" dirty="0">
                <a:solidFill>
                  <a:srgbClr val="1E293B"/>
                </a:solidFill>
              </a:rPr>
              <a:t>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188720"/>
            <a:ext cx="3566160" cy="2468880"/>
          </a:xfrm>
          <a:prstGeom prst="roundRect">
            <a:avLst/>
          </a:prstGeom>
          <a:solidFill>
            <a:srgbClr val="EEF8F6"/>
          </a:solidFill>
          <a:ln w="15240">
            <a:solidFill>
              <a:srgbClr val="9B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43984" y="1291010"/>
            <a:ext cx="3291840" cy="18081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5F50"/>
                </a:solidFill>
                <a:latin typeface="Arial"/>
              </a:defRPr>
            </a:pPr>
            <a:r>
              <a:rPr sz="1200" dirty="0"/>
              <a:t>2. Data Feasibility</a:t>
            </a:r>
          </a:p>
          <a:p>
            <a:pPr>
              <a:spcBef>
                <a:spcPts val="250"/>
              </a:spcBef>
              <a:defRPr sz="850" b="1">
                <a:solidFill>
                  <a:srgbClr val="1E293B"/>
                </a:solidFill>
                <a:latin typeface="Arial"/>
              </a:defRPr>
            </a:pPr>
            <a:r>
              <a:rPr dirty="0"/>
              <a:t>• </a:t>
            </a:r>
            <a:r>
              <a:rPr sz="1100" dirty="0"/>
              <a:t>Availability: </a:t>
            </a:r>
            <a:r>
              <a:rPr sz="1100" b="0" dirty="0">
                <a:solidFill>
                  <a:srgbClr val="1E293B"/>
                </a:solidFill>
              </a:rPr>
              <a:t>Copernicus Marine Service (global models), INCOIS (buoys, moorings, Argo floats), Open </a:t>
            </a:r>
            <a:r>
              <a:rPr sz="1100" b="0" dirty="0" err="1">
                <a:solidFill>
                  <a:srgbClr val="1E293B"/>
                </a:solidFill>
              </a:rPr>
              <a:t>NetCDF</a:t>
            </a:r>
            <a:r>
              <a:rPr sz="1100" b="0" dirty="0">
                <a:solidFill>
                  <a:srgbClr val="1E293B"/>
                </a:solidFill>
              </a:rPr>
              <a:t>/CSV.</a:t>
            </a:r>
          </a:p>
          <a:p>
            <a:pPr>
              <a:spcBef>
                <a:spcPts val="250"/>
              </a:spcBef>
              <a:defRPr sz="850" b="1">
                <a:solidFill>
                  <a:srgbClr val="1E293B"/>
                </a:solidFill>
                <a:latin typeface="Arial"/>
              </a:defRPr>
            </a:pPr>
            <a:r>
              <a:rPr sz="1100" dirty="0"/>
              <a:t>• Coverage: </a:t>
            </a:r>
            <a:r>
              <a:rPr sz="1100" b="0" dirty="0">
                <a:solidFill>
                  <a:srgbClr val="1E293B"/>
                </a:solidFill>
              </a:rPr>
              <a:t>Wide spatial coverage (Indian Ocean), Multiple variables (temperature, salinity, currents), Daily/hourly updates.</a:t>
            </a:r>
          </a:p>
          <a:p>
            <a:pPr>
              <a:spcBef>
                <a:spcPts val="250"/>
              </a:spcBef>
              <a:defRPr sz="850" b="1">
                <a:solidFill>
                  <a:srgbClr val="1E293B"/>
                </a:solidFill>
                <a:latin typeface="Arial"/>
              </a:defRPr>
            </a:pPr>
            <a:r>
              <a:rPr sz="1100" dirty="0"/>
              <a:t>• Data Reliability: </a:t>
            </a:r>
            <a:r>
              <a:rPr sz="1100" b="0" dirty="0">
                <a:solidFill>
                  <a:srgbClr val="1E293B"/>
                </a:solidFill>
              </a:rPr>
              <a:t>Validated model data (Copernicus reanalysis), real observations for comparison, preprocessing quality checks.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188720"/>
            <a:ext cx="3566160" cy="2468880"/>
          </a:xfrm>
          <a:prstGeom prst="roundRect">
            <a:avLst/>
          </a:prstGeom>
          <a:solidFill>
            <a:srgbClr val="FEF8E8"/>
          </a:solidFill>
          <a:ln w="15240">
            <a:solidFill>
              <a:srgbClr val="F5D7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02168" y="1280160"/>
            <a:ext cx="3291840" cy="18081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82500A"/>
                </a:solidFill>
                <a:latin typeface="Arial"/>
              </a:defRPr>
            </a:pPr>
            <a:r>
              <a:rPr sz="1200" dirty="0"/>
              <a:t>3. Economic &amp; Operational Viability</a:t>
            </a:r>
          </a:p>
          <a:p>
            <a:pPr>
              <a:spcBef>
                <a:spcPts val="250"/>
              </a:spcBef>
              <a:defRPr sz="850" b="1">
                <a:solidFill>
                  <a:srgbClr val="1E293B"/>
                </a:solidFill>
                <a:latin typeface="Arial"/>
              </a:defRPr>
            </a:pPr>
            <a:r>
              <a:rPr sz="1100" dirty="0"/>
              <a:t>• Cost-Effective: </a:t>
            </a:r>
            <a:r>
              <a:rPr sz="1100" b="0" dirty="0">
                <a:solidFill>
                  <a:srgbClr val="1E293B"/>
                </a:solidFill>
              </a:rPr>
              <a:t>Uses open-source tools and free data; no expensive proprietary software licenses required.</a:t>
            </a:r>
          </a:p>
          <a:p>
            <a:pPr>
              <a:spcBef>
                <a:spcPts val="250"/>
              </a:spcBef>
              <a:defRPr sz="850" b="1">
                <a:solidFill>
                  <a:srgbClr val="1E293B"/>
                </a:solidFill>
                <a:latin typeface="Arial"/>
              </a:defRPr>
            </a:pPr>
            <a:r>
              <a:rPr sz="1100" dirty="0"/>
              <a:t>• Wide User Base: </a:t>
            </a:r>
            <a:r>
              <a:rPr sz="1100" b="0" dirty="0">
                <a:solidFill>
                  <a:srgbClr val="1E293B"/>
                </a:solidFill>
              </a:rPr>
              <a:t>Useful for researchers, students, disaster management agencies, fisheries, and marine industry.</a:t>
            </a:r>
          </a:p>
          <a:p>
            <a:pPr>
              <a:spcBef>
                <a:spcPts val="250"/>
              </a:spcBef>
              <a:defRPr sz="850" b="1">
                <a:solidFill>
                  <a:srgbClr val="1E293B"/>
                </a:solidFill>
                <a:latin typeface="Arial"/>
              </a:defRPr>
            </a:pPr>
            <a:r>
              <a:rPr sz="1100" dirty="0"/>
              <a:t>• Operational Feasibility: </a:t>
            </a:r>
            <a:r>
              <a:rPr sz="1100" b="0" dirty="0">
                <a:solidFill>
                  <a:srgbClr val="1E293B"/>
                </a:solidFill>
              </a:rPr>
              <a:t>Can be deployed on cloud (e.g., </a:t>
            </a:r>
            <a:r>
              <a:rPr sz="1100" b="0" dirty="0" err="1">
                <a:solidFill>
                  <a:srgbClr val="1E293B"/>
                </a:solidFill>
              </a:rPr>
              <a:t>Vercel</a:t>
            </a:r>
            <a:r>
              <a:rPr sz="1100" b="0" dirty="0">
                <a:solidFill>
                  <a:srgbClr val="1E293B"/>
                </a:solidFill>
              </a:rPr>
              <a:t>/AWS); low maintenance with automated data pipelines</a:t>
            </a:r>
            <a:r>
              <a:rPr b="0" dirty="0">
                <a:solidFill>
                  <a:srgbClr val="1E293B"/>
                </a:solidFill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76472"/>
            <a:ext cx="3566160" cy="2468880"/>
          </a:xfrm>
          <a:prstGeom prst="roundRect">
            <a:avLst/>
          </a:prstGeom>
          <a:solidFill>
            <a:srgbClr val="FEF0F0"/>
          </a:solidFill>
          <a:ln w="15240">
            <a:solidFill>
              <a:srgbClr val="F5B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931920"/>
            <a:ext cx="3291840" cy="20544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8C1919"/>
                </a:solidFill>
                <a:latin typeface="Arial"/>
              </a:defRPr>
            </a:pPr>
            <a:r>
              <a:rPr sz="1200" dirty="0"/>
              <a:t>4. Potential Challenges and Risks</a:t>
            </a:r>
          </a:p>
          <a:p>
            <a:pPr>
              <a:spcBef>
                <a:spcPts val="250"/>
              </a:spcBef>
              <a:defRPr sz="850" b="1">
                <a:solidFill>
                  <a:srgbClr val="1E293B"/>
                </a:solidFill>
                <a:latin typeface="Arial"/>
              </a:defRPr>
            </a:pPr>
            <a:r>
              <a:rPr sz="1100" dirty="0"/>
              <a:t>• Large Data Volume: </a:t>
            </a:r>
            <a:r>
              <a:rPr sz="1100" b="0" dirty="0">
                <a:solidFill>
                  <a:srgbClr val="1E293B"/>
                </a:solidFill>
              </a:rPr>
              <a:t>High-resolution </a:t>
            </a:r>
            <a:r>
              <a:rPr sz="1100" b="0" dirty="0" err="1">
                <a:solidFill>
                  <a:srgbClr val="1E293B"/>
                </a:solidFill>
              </a:rPr>
              <a:t>NetCDF</a:t>
            </a:r>
            <a:r>
              <a:rPr sz="1100" b="0" dirty="0">
                <a:solidFill>
                  <a:srgbClr val="1E293B"/>
                </a:solidFill>
              </a:rPr>
              <a:t> files can be large and slow to process.</a:t>
            </a:r>
          </a:p>
          <a:p>
            <a:pPr>
              <a:spcBef>
                <a:spcPts val="250"/>
              </a:spcBef>
              <a:defRPr sz="850" b="1">
                <a:solidFill>
                  <a:srgbClr val="1E293B"/>
                </a:solidFill>
                <a:latin typeface="Arial"/>
              </a:defRPr>
            </a:pPr>
            <a:r>
              <a:rPr sz="1100" dirty="0"/>
              <a:t>• Performance Issues: </a:t>
            </a:r>
            <a:r>
              <a:rPr sz="1100" b="0" dirty="0">
                <a:solidFill>
                  <a:srgbClr val="1E293B"/>
                </a:solidFill>
              </a:rPr>
              <a:t>Rendering 3D data in browser may cause lag on low-end devices.</a:t>
            </a:r>
          </a:p>
          <a:p>
            <a:pPr>
              <a:spcBef>
                <a:spcPts val="250"/>
              </a:spcBef>
              <a:defRPr sz="850" b="1">
                <a:solidFill>
                  <a:srgbClr val="1E293B"/>
                </a:solidFill>
                <a:latin typeface="Arial"/>
              </a:defRPr>
            </a:pPr>
            <a:r>
              <a:rPr sz="1100" dirty="0"/>
              <a:t>• Data Inconsistency: </a:t>
            </a:r>
            <a:r>
              <a:rPr sz="1100" b="0" dirty="0">
                <a:solidFill>
                  <a:srgbClr val="1E293B"/>
                </a:solidFill>
              </a:rPr>
              <a:t>Differences between model outputs and in-situ observations.</a:t>
            </a:r>
          </a:p>
          <a:p>
            <a:pPr>
              <a:spcBef>
                <a:spcPts val="250"/>
              </a:spcBef>
              <a:defRPr sz="850" b="1">
                <a:solidFill>
                  <a:srgbClr val="1E293B"/>
                </a:solidFill>
                <a:latin typeface="Arial"/>
              </a:defRPr>
            </a:pPr>
            <a:r>
              <a:rPr sz="1100" dirty="0"/>
              <a:t>• Connectivity &amp; Data Updates: </a:t>
            </a:r>
            <a:r>
              <a:rPr sz="1100" b="0" dirty="0">
                <a:solidFill>
                  <a:srgbClr val="1E293B"/>
                </a:solidFill>
              </a:rPr>
              <a:t>Real-time data may face delays or downtime.</a:t>
            </a:r>
          </a:p>
          <a:p>
            <a:pPr>
              <a:spcBef>
                <a:spcPts val="250"/>
              </a:spcBef>
              <a:defRPr sz="850" b="1">
                <a:solidFill>
                  <a:srgbClr val="1E293B"/>
                </a:solidFill>
                <a:latin typeface="Arial"/>
              </a:defRPr>
            </a:pPr>
            <a:r>
              <a:rPr sz="1100" dirty="0"/>
              <a:t>• User Adoption: </a:t>
            </a:r>
            <a:r>
              <a:rPr sz="1100" b="0" dirty="0">
                <a:solidFill>
                  <a:srgbClr val="1E293B"/>
                </a:solidFill>
              </a:rPr>
              <a:t>Non-technical users may find 3D visualization complex initially.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06824" y="3840480"/>
            <a:ext cx="3566160" cy="2468880"/>
          </a:xfrm>
          <a:prstGeom prst="roundRect">
            <a:avLst/>
          </a:prstGeom>
          <a:solidFill>
            <a:srgbClr val="EEF6FE"/>
          </a:solidFill>
          <a:ln w="15240">
            <a:solidFill>
              <a:srgbClr val="A5D2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43984" y="3931920"/>
            <a:ext cx="329184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A4B7D"/>
                </a:solidFill>
                <a:latin typeface="Arial"/>
              </a:defRPr>
            </a:pPr>
            <a:r>
              <a:rPr sz="1200" dirty="0"/>
              <a:t>5. Strategies for Overcoming Challenges</a:t>
            </a:r>
          </a:p>
          <a:p>
            <a:pPr>
              <a:spcBef>
                <a:spcPts val="250"/>
              </a:spcBef>
              <a:defRPr sz="850" b="1">
                <a:solidFill>
                  <a:srgbClr val="1E293B"/>
                </a:solidFill>
                <a:latin typeface="Arial"/>
              </a:defRPr>
            </a:pPr>
            <a:r>
              <a:rPr sz="1100" dirty="0"/>
              <a:t>• Data Optimization: </a:t>
            </a:r>
            <a:r>
              <a:rPr sz="1100" b="0" dirty="0">
                <a:solidFill>
                  <a:srgbClr val="1E293B"/>
                </a:solidFill>
              </a:rPr>
              <a:t>Use spatial &amp; temporal </a:t>
            </a:r>
            <a:r>
              <a:rPr sz="1100" b="0" dirty="0" err="1">
                <a:solidFill>
                  <a:srgbClr val="1E293B"/>
                </a:solidFill>
              </a:rPr>
              <a:t>downsampling</a:t>
            </a:r>
            <a:r>
              <a:rPr sz="1100" b="0" dirty="0">
                <a:solidFill>
                  <a:srgbClr val="1E293B"/>
                </a:solidFill>
              </a:rPr>
              <a:t>, efficient </a:t>
            </a:r>
            <a:r>
              <a:rPr sz="1100" b="0" dirty="0" err="1">
                <a:solidFill>
                  <a:srgbClr val="1E293B"/>
                </a:solidFill>
              </a:rPr>
              <a:t>NetCDF</a:t>
            </a:r>
            <a:r>
              <a:rPr sz="1100" b="0" dirty="0">
                <a:solidFill>
                  <a:srgbClr val="1E293B"/>
                </a:solidFill>
              </a:rPr>
              <a:t> libraries (</a:t>
            </a:r>
            <a:r>
              <a:rPr sz="1100" b="0" dirty="0" err="1">
                <a:solidFill>
                  <a:srgbClr val="1E293B"/>
                </a:solidFill>
              </a:rPr>
              <a:t>xarray</a:t>
            </a:r>
            <a:r>
              <a:rPr sz="1100" b="0" dirty="0">
                <a:solidFill>
                  <a:srgbClr val="1E293B"/>
                </a:solidFill>
              </a:rPr>
              <a:t>, </a:t>
            </a:r>
            <a:r>
              <a:rPr sz="1100" b="0" dirty="0" err="1">
                <a:solidFill>
                  <a:srgbClr val="1E293B"/>
                </a:solidFill>
              </a:rPr>
              <a:t>zarr</a:t>
            </a:r>
            <a:r>
              <a:rPr sz="1100" b="0" dirty="0">
                <a:solidFill>
                  <a:srgbClr val="1E293B"/>
                </a:solidFill>
              </a:rPr>
              <a:t>).</a:t>
            </a:r>
          </a:p>
          <a:p>
            <a:pPr>
              <a:spcBef>
                <a:spcPts val="250"/>
              </a:spcBef>
              <a:defRPr sz="850" b="1">
                <a:solidFill>
                  <a:srgbClr val="1E293B"/>
                </a:solidFill>
                <a:latin typeface="Arial"/>
              </a:defRPr>
            </a:pPr>
            <a:r>
              <a:rPr sz="1100" dirty="0"/>
              <a:t>• Efficient Rendering: </a:t>
            </a:r>
            <a:r>
              <a:rPr sz="1100" b="0" dirty="0">
                <a:solidFill>
                  <a:srgbClr val="1E293B"/>
                </a:solidFill>
              </a:rPr>
              <a:t>Implement Level of Detail (LOD) and WebGL shader optimization.</a:t>
            </a:r>
          </a:p>
          <a:p>
            <a:pPr>
              <a:spcBef>
                <a:spcPts val="250"/>
              </a:spcBef>
              <a:defRPr sz="850" b="1">
                <a:solidFill>
                  <a:srgbClr val="1E293B"/>
                </a:solidFill>
                <a:latin typeface="Arial"/>
              </a:defRPr>
            </a:pPr>
            <a:r>
              <a:rPr sz="1100" dirty="0"/>
              <a:t>• Model Validation: </a:t>
            </a:r>
            <a:r>
              <a:rPr sz="1100" b="0" dirty="0">
                <a:solidFill>
                  <a:srgbClr val="1E293B"/>
                </a:solidFill>
              </a:rPr>
              <a:t>Cross-validate with in-situ data and provide uncertainty metrics.</a:t>
            </a:r>
          </a:p>
          <a:p>
            <a:pPr>
              <a:spcBef>
                <a:spcPts val="250"/>
              </a:spcBef>
              <a:defRPr sz="850" b="1">
                <a:solidFill>
                  <a:srgbClr val="1E293B"/>
                </a:solidFill>
                <a:latin typeface="Arial"/>
              </a:defRPr>
            </a:pPr>
            <a:r>
              <a:rPr sz="1100" dirty="0"/>
              <a:t>• Robust Data Pipeline: </a:t>
            </a:r>
            <a:r>
              <a:rPr sz="1100" b="0" dirty="0">
                <a:solidFill>
                  <a:srgbClr val="1E293B"/>
                </a:solidFill>
              </a:rPr>
              <a:t>Automate data ingestion with error handling and fallback sources.</a:t>
            </a:r>
          </a:p>
          <a:p>
            <a:pPr>
              <a:spcBef>
                <a:spcPts val="250"/>
              </a:spcBef>
              <a:defRPr sz="850" b="1">
                <a:solidFill>
                  <a:srgbClr val="1E293B"/>
                </a:solidFill>
                <a:latin typeface="Arial"/>
              </a:defRPr>
            </a:pPr>
            <a:r>
              <a:rPr sz="1100" dirty="0"/>
              <a:t>• User-Friendly Interface: </a:t>
            </a:r>
            <a:r>
              <a:rPr sz="1100" b="0" dirty="0">
                <a:solidFill>
                  <a:srgbClr val="1E293B"/>
                </a:solidFill>
              </a:rPr>
              <a:t>Guided tour, tooltips and simplified controls for non-expert users.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5008" y="3840480"/>
            <a:ext cx="3566160" cy="2468880"/>
          </a:xfrm>
          <a:prstGeom prst="roundRect">
            <a:avLst/>
          </a:prstGeom>
          <a:solidFill>
            <a:srgbClr val="F4F0FC"/>
          </a:solidFill>
          <a:ln w="15240">
            <a:solidFill>
              <a:srgbClr val="CDB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02168" y="3931920"/>
            <a:ext cx="3291840" cy="16004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4B2882"/>
                </a:solidFill>
                <a:latin typeface="Arial"/>
              </a:defRPr>
            </a:pPr>
            <a:r>
              <a:rPr sz="1200" dirty="0"/>
              <a:t>6. Overall Viability</a:t>
            </a:r>
          </a:p>
          <a:p>
            <a:pPr>
              <a:spcBef>
                <a:spcPts val="250"/>
              </a:spcBef>
              <a:defRPr sz="850" b="1">
                <a:solidFill>
                  <a:srgbClr val="1E293B"/>
                </a:solidFill>
                <a:latin typeface="Arial"/>
              </a:defRPr>
            </a:pPr>
            <a:r>
              <a:rPr sz="1100" dirty="0"/>
              <a:t>• High Practical Value: </a:t>
            </a:r>
            <a:r>
              <a:rPr sz="1100" b="0" dirty="0">
                <a:solidFill>
                  <a:srgbClr val="1E293B"/>
                </a:solidFill>
              </a:rPr>
              <a:t>Technically feasible; Data is available and reliable; Cost-effective and scalable; Addresses real-world needs (research, disaster management, maritime safety); Strong potential for long-term impact.</a:t>
            </a:r>
          </a:p>
          <a:p>
            <a:pPr>
              <a:spcBef>
                <a:spcPts val="250"/>
              </a:spcBef>
              <a:defRPr sz="850" b="1">
                <a:solidFill>
                  <a:srgbClr val="1E293B"/>
                </a:solidFill>
                <a:latin typeface="Arial"/>
              </a:defRPr>
            </a:pPr>
            <a:r>
              <a:rPr sz="1100" dirty="0"/>
              <a:t>• Deployment Verdict: </a:t>
            </a:r>
            <a:r>
              <a:rPr sz="1100" b="0" dirty="0">
                <a:solidFill>
                  <a:srgbClr val="1E293B"/>
                </a:solidFill>
              </a:rPr>
              <a:t>Feasible, Scalable and Impactful for Real-World Deployment across Government &amp; Research agencies</a:t>
            </a:r>
            <a:r>
              <a:rPr b="0" dirty="0">
                <a:solidFill>
                  <a:srgbClr val="1E293B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crop_aquanov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2608"/>
            <a:ext cx="137160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011680" y="171740"/>
            <a:ext cx="7315200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0F2244"/>
                </a:solidFill>
                <a:latin typeface="Arial"/>
              </a:defRPr>
            </a:pPr>
            <a:r>
              <a:rPr sz="3200" dirty="0"/>
              <a:t>IMPACT AND BENEFITS</a:t>
            </a:r>
          </a:p>
        </p:txBody>
      </p:sp>
      <p:pic>
        <p:nvPicPr>
          <p:cNvPr id="5" name="Picture 4" descr="slide_1_Picture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228600"/>
            <a:ext cx="1920240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474720" y="987552"/>
            <a:ext cx="4572000" cy="22860"/>
          </a:xfrm>
          <a:prstGeom prst="rect">
            <a:avLst/>
          </a:prstGeom>
          <a:solidFill>
            <a:srgbClr val="388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649224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37960"/>
            <a:ext cx="1109441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@SIH Idea submission- Template</a:t>
            </a:r>
          </a:p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88720"/>
            <a:ext cx="5303520" cy="2377440"/>
          </a:xfrm>
          <a:prstGeom prst="roundRect">
            <a:avLst/>
          </a:prstGeom>
          <a:solidFill>
            <a:srgbClr val="EEF5FE"/>
          </a:solidFill>
          <a:ln w="15240">
            <a:solidFill>
              <a:srgbClr val="A0C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298448"/>
            <a:ext cx="4937760" cy="1159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C3A73"/>
                </a:solidFill>
                <a:latin typeface="Arial"/>
              </a:defRPr>
            </a:pPr>
            <a:r>
              <a:rPr sz="1400" dirty="0"/>
              <a:t>Impacts :</a:t>
            </a:r>
          </a:p>
          <a:p>
            <a:pPr>
              <a:spcBef>
                <a:spcPts val="400"/>
              </a:spcBef>
              <a:defRPr sz="1000" b="1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Scientists: </a:t>
            </a:r>
            <a:r>
              <a:rPr sz="1200" b="0" dirty="0">
                <a:solidFill>
                  <a:srgbClr val="1E293B"/>
                </a:solidFill>
              </a:rPr>
              <a:t>Better ocean understanding and research capabilities</a:t>
            </a:r>
          </a:p>
          <a:p>
            <a:pPr>
              <a:spcBef>
                <a:spcPts val="400"/>
              </a:spcBef>
              <a:defRPr sz="1000" b="1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Fisheries &amp; Coastal Communities: </a:t>
            </a:r>
            <a:r>
              <a:rPr sz="1200" b="0" dirty="0">
                <a:solidFill>
                  <a:srgbClr val="1E293B"/>
                </a:solidFill>
              </a:rPr>
              <a:t>Improved management and safety</a:t>
            </a:r>
          </a:p>
          <a:p>
            <a:pPr>
              <a:spcBef>
                <a:spcPts val="400"/>
              </a:spcBef>
              <a:defRPr sz="1000" b="1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Policy Makers: </a:t>
            </a:r>
            <a:r>
              <a:rPr sz="1200" b="0" dirty="0">
                <a:solidFill>
                  <a:srgbClr val="1E293B"/>
                </a:solidFill>
              </a:rPr>
              <a:t>Data-driven decisions for climate and ocean policies</a:t>
            </a:r>
          </a:p>
          <a:p>
            <a:pPr>
              <a:spcBef>
                <a:spcPts val="400"/>
              </a:spcBef>
              <a:defRPr sz="1000" b="1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General Public: </a:t>
            </a:r>
            <a:r>
              <a:rPr sz="1200" b="0" dirty="0">
                <a:solidFill>
                  <a:srgbClr val="1E293B"/>
                </a:solidFill>
              </a:rPr>
              <a:t>Easy access to ocean data and insights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1188720"/>
            <a:ext cx="5608015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0C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crop_s5_3d_mod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280160"/>
            <a:ext cx="5425135" cy="2194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36576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2244"/>
                </a:solidFill>
                <a:latin typeface="Arial"/>
              </a:defRPr>
            </a:pPr>
            <a:r>
              <a:t>Benefits 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977639"/>
            <a:ext cx="2633472" cy="2468880"/>
          </a:xfrm>
          <a:prstGeom prst="roundRect">
            <a:avLst/>
          </a:prstGeom>
          <a:solidFill>
            <a:srgbClr val="EEF5FE"/>
          </a:solidFill>
          <a:ln w="15240">
            <a:solidFill>
              <a:srgbClr val="A0C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4069079"/>
            <a:ext cx="2414016" cy="16619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C3A73"/>
                </a:solidFill>
                <a:latin typeface="Arial"/>
              </a:defRPr>
            </a:pPr>
            <a:r>
              <a:rPr sz="1400" dirty="0"/>
              <a:t>Scientific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Better ocean understanding.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Access to model and in-situ data together.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Faster research and analysis workflows.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Develop data-driven and actionable ocean insights.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64992" y="3977639"/>
            <a:ext cx="2633472" cy="2468880"/>
          </a:xfrm>
          <a:prstGeom prst="roundRect">
            <a:avLst/>
          </a:prstGeom>
          <a:solidFill>
            <a:srgbClr val="EEF8F6"/>
          </a:solidFill>
          <a:ln w="15240">
            <a:solidFill>
              <a:srgbClr val="9B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74720" y="4069079"/>
            <a:ext cx="2414016" cy="18466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5F50"/>
                </a:solidFill>
                <a:latin typeface="Arial"/>
              </a:defRPr>
            </a:pPr>
            <a:r>
              <a:rPr sz="1400" dirty="0"/>
              <a:t>Environmental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rPr dirty="0"/>
              <a:t>• </a:t>
            </a:r>
            <a:r>
              <a:rPr sz="1200" dirty="0"/>
              <a:t>Monitor and conserve marine ecosystems.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Understand long-term climate and ocean changes.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Detect anomalies and environmental risks.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Support sustainable ocean management</a:t>
            </a:r>
            <a:r>
              <a:rPr dirty="0"/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1344" y="3977639"/>
            <a:ext cx="2633472" cy="2468880"/>
          </a:xfrm>
          <a:prstGeom prst="roundRect">
            <a:avLst/>
          </a:prstGeom>
          <a:solidFill>
            <a:srgbClr val="FEF8E8"/>
          </a:solidFill>
          <a:ln w="15240">
            <a:solidFill>
              <a:srgbClr val="F5D7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91072" y="4069079"/>
            <a:ext cx="2414016" cy="1477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82500A"/>
                </a:solidFill>
                <a:latin typeface="Arial"/>
              </a:defRPr>
            </a:pPr>
            <a:r>
              <a:rPr sz="1400" dirty="0"/>
              <a:t>Societal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rPr dirty="0"/>
              <a:t>• </a:t>
            </a:r>
            <a:r>
              <a:rPr sz="1200" dirty="0"/>
              <a:t>Improved fisheries management.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Coastal safety and hazard monitoring.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Useful for multiple stakeholders.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Greater awareness through easy-to-understand visualization.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7696" y="3977639"/>
            <a:ext cx="2633472" cy="2468880"/>
          </a:xfrm>
          <a:prstGeom prst="roundRect">
            <a:avLst/>
          </a:prstGeom>
          <a:solidFill>
            <a:srgbClr val="F4F0FC"/>
          </a:solidFill>
          <a:ln w="15240">
            <a:solidFill>
              <a:srgbClr val="CDB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07424" y="4069079"/>
            <a:ext cx="2414016" cy="20697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4B2882"/>
                </a:solidFill>
                <a:latin typeface="Arial"/>
              </a:defRPr>
            </a:pPr>
            <a:r>
              <a:rPr sz="1400" dirty="0"/>
              <a:t>Economic / Policy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Better resource planning and utilization.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Support for blue economy initiatives.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Reduced time and cost in data collection and analysis.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Evidence-based policymaking.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Democratizes access to ocean insights.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50410" y="-36884"/>
            <a:ext cx="8229600" cy="1143000"/>
          </a:xfrm>
        </p:spPr>
        <p:txBody>
          <a:bodyPr/>
          <a:lstStyle/>
          <a:p>
            <a:pPr eaLnBrk="1" hangingPunct="1"/>
            <a:r>
              <a:rPr lang="en-US" sz="3600" b="1" u="sng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00484" y="221024"/>
            <a:ext cx="2071783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AquaNova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D76F49D-4893-747D-56E6-3BEC62026443}"/>
              </a:ext>
            </a:extLst>
          </p:cNvPr>
          <p:cNvSpPr txBox="1"/>
          <p:nvPr/>
        </p:nvSpPr>
        <p:spPr>
          <a:xfrm>
            <a:off x="100484" y="1227569"/>
            <a:ext cx="1192945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1. Copernicus Marine Services GLORY12V1 :- Global ocean Physics Reanalysis; 1/12 horizontal resolution ; 50 vertical levels; model- observation assimilation.</a:t>
            </a:r>
          </a:p>
          <a:p>
            <a:r>
              <a:rPr lang="en-IN" dirty="0">
                <a:hlinkClick r:id="rId4"/>
              </a:rPr>
              <a:t> https://data.marine.copernicus.eu/product/GLOBAL_MULTIYEAR_PHY_001_030/description</a:t>
            </a:r>
            <a:endParaRPr lang="en-IN" dirty="0"/>
          </a:p>
          <a:p>
            <a:endParaRPr lang="en-IN" dirty="0"/>
          </a:p>
          <a:p>
            <a:r>
              <a:rPr lang="en-IN" dirty="0"/>
              <a:t>2. INCOIS – Ocean Observation Network :- Indian Ocean in – situ and remote – sensing observations; national oceanographic data resources.</a:t>
            </a:r>
          </a:p>
          <a:p>
            <a:r>
              <a:rPr lang="en-IN" dirty="0">
                <a:hlinkClick r:id="rId5"/>
              </a:rPr>
              <a:t>https://www.incois.gov.in/site/datainfo/OON.jsp</a:t>
            </a:r>
            <a:endParaRPr lang="en-IN" dirty="0"/>
          </a:p>
          <a:p>
            <a:endParaRPr lang="en-IN" dirty="0"/>
          </a:p>
          <a:p>
            <a:r>
              <a:rPr lang="en-IN" dirty="0"/>
              <a:t>3. INCOIS – Ocean state Forecast :- Numerical Ocean Forecasts for waves, currents, temperature, and related ocean – state parameters.</a:t>
            </a:r>
          </a:p>
          <a:p>
            <a:r>
              <a:rPr lang="en-IN" dirty="0">
                <a:hlinkClick r:id="rId6"/>
              </a:rPr>
              <a:t>https://www.incois.gov.in/site/services/osf.jsp</a:t>
            </a:r>
            <a:endParaRPr lang="en-IN" dirty="0"/>
          </a:p>
          <a:p>
            <a:endParaRPr lang="en-IN" dirty="0"/>
          </a:p>
          <a:p>
            <a:r>
              <a:rPr lang="en-IN" dirty="0"/>
              <a:t>4. Copernicus Marine Documentation / Quality :- product documentation and quality information used for model – data interpretation and validation.</a:t>
            </a:r>
          </a:p>
          <a:p>
            <a:r>
              <a:rPr lang="en-IN" dirty="0">
                <a:hlinkClick r:id="rId7"/>
              </a:rPr>
              <a:t>https://help.marine.copernicus.eu/en/collections/15503112-product-documentation</a:t>
            </a:r>
            <a:endParaRPr lang="en-IN" dirty="0"/>
          </a:p>
          <a:p>
            <a:endParaRPr lang="en-IN" dirty="0"/>
          </a:p>
          <a:p>
            <a:r>
              <a:rPr lang="en-IN" dirty="0"/>
              <a:t>5.Prototype Link:-</a:t>
            </a:r>
          </a:p>
          <a:p>
            <a:r>
              <a:rPr lang="en-IN" dirty="0">
                <a:hlinkClick r:id="rId8"/>
              </a:rPr>
              <a:t>https://ocean-3-d-alpha.vercel.app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1351</Words>
  <Application>Microsoft Office PowerPoint</Application>
  <PresentationFormat>Widescreen</PresentationFormat>
  <Paragraphs>156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Aptos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PowerPoint Presentation</vt:lpstr>
      <vt:lpstr>PowerPoint Presentation</vt:lpstr>
      <vt:lpstr>PowerPoint Presentation</vt:lpstr>
      <vt:lpstr>PowerPoint Presentation</vt:lpstr>
      <vt:lpstr>RESEARCH  AND REFERENCES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Satwik Mitra</cp:lastModifiedBy>
  <cp:revision>1</cp:revision>
  <dcterms:created xsi:type="dcterms:W3CDTF">2013-01-27T09:14:16Z</dcterms:created>
  <dcterms:modified xsi:type="dcterms:W3CDTF">2026-09-23T17:22:32Z</dcterms:modified>
  <cp:category/>
</cp:coreProperties>
</file>