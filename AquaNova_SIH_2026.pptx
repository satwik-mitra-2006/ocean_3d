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65760"/>
            <a:ext cx="2651760" cy="1005840"/>
          </a:xfrm>
          <a:prstGeom prst="rect">
            <a:avLst/>
          </a:prstGeom>
        </p:spPr>
      </p:pic>
      <p:pic>
        <p:nvPicPr>
          <p:cNvPr id="4" name="Picture 3" descr="crop_aquanov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2011680" cy="868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926080" y="502920"/>
            <a:ext cx="5760720" cy="329184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SMART INDIA HACKATHON 2026  •  OFFICIAL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6217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AquaNova</a:t>
            </a:r>
          </a:p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Interactive 3D Ocean Digital Twin &amp; In-Situ Visualization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6217920" cy="1719072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95728"/>
            <a:ext cx="6071616" cy="1600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0284C7"/>
                </a:solidFill>
                <a:latin typeface="Arial"/>
              </a:rPr>
              <a:t>PROBLEM STATEMENT ID: SIH26067 • Category: Software | Domain: Disaster Management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F172A"/>
                </a:solidFill>
                <a:latin typeface="Arial"/>
              </a:rPr>
              <a:t>Challenge Statement: </a:t>
            </a:r>
            <a:r>
              <a:rPr sz="819">
                <a:solidFill>
                  <a:srgbClr val="1E293B"/>
                </a:solidFill>
                <a:latin typeface="Calibri"/>
              </a:rPr>
              <a:t>Develop a web-based interactive 3D visualization platform that seamlessly integrates numerical ocean model outputs (4D NetCDF) and in-situ observations (Moored Buoys, HF Radar, Argo floats) to deliver real-time volumetric situational awareness for maritime disaster management.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64748B"/>
                </a:solidFill>
                <a:latin typeface="Arial"/>
              </a:rPr>
              <a:t>Target Authority: </a:t>
            </a:r>
            <a:r>
              <a:rPr sz="780">
                <a:solidFill>
                  <a:srgbClr val="1E293B"/>
                </a:solidFill>
                <a:latin typeface="Calibri"/>
              </a:rPr>
              <a:t>Ministry of Earth Sciences (MoES) / INCOIS (Govt. of India)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993392" cy="12618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15384"/>
            <a:ext cx="1901952" cy="11704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059669"/>
                </a:solidFill>
                <a:latin typeface="Arial"/>
              </a:rPr>
              <a:t>4D WebGL Twin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60 FPS GPU shaders 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16 Depth levels (0-2000m) 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Zero-install web access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4160520"/>
            <a:ext cx="1993392" cy="126187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4215384"/>
            <a:ext cx="1901952" cy="11704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97706"/>
                </a:solidFill>
                <a:latin typeface="Arial"/>
              </a:rPr>
              <a:t>In-Situ Sync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Real-time buoy sync 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RMSE &lt; 0.35°C match 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96% Pearson R² verified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4160520"/>
            <a:ext cx="1993392" cy="1261872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4215384"/>
            <a:ext cx="1901952" cy="117043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7C3AED"/>
                </a:solidFill>
                <a:latin typeface="Arial"/>
              </a:rPr>
              <a:t>Varuni AI Co-Pilot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Voice-first telemetry 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Cyclone / eddy alerts 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1E293B"/>
                </a:solidFill>
                <a:latin typeface="Arial"/>
              </a:rPr>
              <a:t>• Bilingual citizen safety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389888"/>
            <a:ext cx="4343400" cy="4032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1481328"/>
            <a:ext cx="406908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800" b="1">
                <a:solidFill>
                  <a:srgbClr val="38BDF8"/>
                </a:solidFill>
                <a:latin typeface="Arial"/>
              </a:defRPr>
            </a:pPr>
            <a:r>
              <a:t>● LIVE SYSTEM PREVIEW : AquaNova 3D Digital Twin Cockpit</a:t>
            </a:r>
          </a:p>
        </p:txBody>
      </p:sp>
      <p:pic>
        <p:nvPicPr>
          <p:cNvPr id="17" name="Picture 16" descr="real_site_3d_tw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47088"/>
            <a:ext cx="4069080" cy="30632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06640" y="5010912"/>
            <a:ext cx="3886200" cy="292608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740" b="1">
                <a:solidFill>
                  <a:srgbClr val="0284C7"/>
                </a:solidFill>
                <a:latin typeface="Arial"/>
              </a:defRPr>
            </a:pPr>
            <a:r>
              <a:t>✓ Live Copernicus GLORYS12V1  •  ✓ INCOIS Buoy Fleet  •  ✓ Real WebGL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59552"/>
            <a:ext cx="2542032" cy="8412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596128"/>
            <a:ext cx="2432304" cy="76809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750" b="1">
                <a:solidFill>
                  <a:srgbClr val="64748B"/>
                </a:solidFill>
                <a:latin typeface="Arial"/>
              </a:rPr>
              <a:t>THEME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284C7"/>
                </a:solidFill>
                <a:latin typeface="Arial"/>
              </a:rPr>
              <a:t>Disaster Management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MoES / INCOIS Mandate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5559552"/>
            <a:ext cx="2542032" cy="8412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5596128"/>
            <a:ext cx="2432304" cy="76809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750" b="1">
                <a:solidFill>
                  <a:srgbClr val="64748B"/>
                </a:solidFill>
                <a:latin typeface="Arial"/>
              </a:rPr>
              <a:t>PS CATEGORY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Software / Deep Tech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Zero-Install WebGL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5559552"/>
            <a:ext cx="2542032" cy="84124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5596128"/>
            <a:ext cx="2432304" cy="76809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750" b="1">
                <a:solidFill>
                  <a:srgbClr val="64748B"/>
                </a:solidFill>
                <a:latin typeface="Arial"/>
              </a:rPr>
              <a:t>TEAM ID &amp; NAME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Team AquaNova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6256" y="5559552"/>
            <a:ext cx="2542032" cy="84124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5596128"/>
            <a:ext cx="2432304" cy="76809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750" b="1">
                <a:solidFill>
                  <a:srgbClr val="64748B"/>
                </a:solidFill>
                <a:latin typeface="Arial"/>
              </a:rPr>
              <a:t>AI CO-PILOT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Varuni AI Assistant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Voice &amp; Telemetry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10725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AquaNova: Official Submission for Problem Statement SIH26067 | Smart India Hackathon 2026 | National Blue Economy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aquanov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37160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256032"/>
            <a:ext cx="73152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PROPOSED SOLUTION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AquaNova — 3D Ocean Digital Twin &amp; Real-Time Simulation Studio</a:t>
            </a:r>
          </a:p>
        </p:txBody>
      </p:sp>
      <p:pic>
        <p:nvPicPr>
          <p:cNvPr id="5" name="Picture 4" descr="slide_1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28600"/>
            <a:ext cx="192024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4720" y="987552"/>
            <a:ext cx="4572000" cy="22860"/>
          </a:xfrm>
          <a:prstGeom prst="rect">
            <a:avLst/>
          </a:prstGeom>
          <a:solidFill>
            <a:srgbClr val="38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3474720" cy="2011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188720"/>
            <a:ext cx="3364992" cy="1920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11D48"/>
                </a:solidFill>
                <a:latin typeface="Arial"/>
              </a:rPr>
              <a:t>Traditional Maritime Gaps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E11D48"/>
                </a:solidFill>
                <a:latin typeface="Arial"/>
              </a:rPr>
              <a:t>• 2D Flat Map Limit: </a:t>
            </a:r>
            <a:r>
              <a:rPr sz="850">
                <a:solidFill>
                  <a:srgbClr val="1E293B"/>
                </a:solidFill>
                <a:latin typeface="Calibri"/>
              </a:rPr>
              <a:t>Static 2D maps lack depth sense; critical underwater thermoclines &amp; shears are invisible.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E11D48"/>
                </a:solidFill>
                <a:latin typeface="Arial"/>
              </a:rPr>
              <a:t>• Disconnected Silos: </a:t>
            </a:r>
            <a:r>
              <a:rPr sz="850">
                <a:solidFill>
                  <a:srgbClr val="1E293B"/>
                </a:solidFill>
                <a:latin typeface="Calibri"/>
              </a:rPr>
              <a:t>Numerical models (NetCDF) and real in-situ buoys reside in isolated, fragmented systems.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E11D48"/>
                </a:solidFill>
                <a:latin typeface="Arial"/>
              </a:rPr>
              <a:t>• Operational Latency: </a:t>
            </a:r>
            <a:r>
              <a:rPr sz="850">
                <a:solidFill>
                  <a:srgbClr val="1E293B"/>
                </a:solidFill>
                <a:latin typeface="Calibri"/>
              </a:rPr>
              <a:t>Scientists spend 60%+ time decoding multi-gigabyte files instead of taking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3474720" cy="3108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3291840"/>
            <a:ext cx="3364992" cy="3017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284C7"/>
                </a:solidFill>
                <a:latin typeface="Arial"/>
              </a:rPr>
              <a:t>AquaNova Proposed Solution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Interactive 3D WebGL Twin: </a:t>
            </a:r>
            <a:r>
              <a:rPr sz="850">
                <a:solidFill>
                  <a:srgbClr val="1E293B"/>
                </a:solidFill>
                <a:latin typeface="Calibri"/>
              </a:rPr>
              <a:t>4D ocean data (Lat, Lon, Depth, Time) rendered in real-time with smooth 60 FPS GPU shaders.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Live Buoy vs Model Studio: </a:t>
            </a:r>
            <a:r>
              <a:rPr sz="850">
                <a:solidFill>
                  <a:srgbClr val="1E293B"/>
                </a:solidFill>
                <a:latin typeface="Calibri"/>
              </a:rPr>
              <a:t>Direct mathematical comparison with moored buoys &amp; Argo floats (RMSE: 0.35°C).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Multi-Depth Stratification: </a:t>
            </a:r>
            <a:r>
              <a:rPr sz="850">
                <a:solidFill>
                  <a:srgbClr val="1E293B"/>
                </a:solidFill>
                <a:latin typeface="Calibri"/>
              </a:rPr>
              <a:t>16 volumetric depth layers (0m to 2000m+) for temperature, salinity, density &amp; current flow.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Scenario Simulation: </a:t>
            </a:r>
            <a:r>
              <a:rPr sz="850">
                <a:solidFill>
                  <a:srgbClr val="1E293B"/>
                </a:solidFill>
                <a:latin typeface="Calibri"/>
              </a:rPr>
              <a:t>One-click toggling between Baseline, Cyclone Impact, and Monsoon surge modes.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Zero-Install Web Access: </a:t>
            </a:r>
            <a:r>
              <a:rPr sz="850">
                <a:solidFill>
                  <a:srgbClr val="1E293B"/>
                </a:solidFill>
                <a:latin typeface="Calibri"/>
              </a:rPr>
              <a:t>Runs directly in browser; no desktop GIS software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143000"/>
            <a:ext cx="1463040" cy="27432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780" b="1">
                <a:solidFill>
                  <a:srgbClr val="0284C7"/>
                </a:solidFill>
                <a:latin typeface="Arial"/>
              </a:defRPr>
            </a:pPr>
            <a:r>
              <a:t>60 FPS GPU WebGL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143000"/>
            <a:ext cx="1463040" cy="274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780" b="1">
                <a:solidFill>
                  <a:srgbClr val="059669"/>
                </a:solidFill>
                <a:latin typeface="Arial"/>
              </a:defRPr>
            </a:pPr>
            <a:r>
              <a:t>Sub-75ms Lazy Slicing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143000"/>
            <a:ext cx="1463040" cy="2743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780" b="1">
                <a:solidFill>
                  <a:srgbClr val="D97706"/>
                </a:solidFill>
                <a:latin typeface="Arial"/>
              </a:defRPr>
            </a:pPr>
            <a:r>
              <a:t>UNESCO EOS-80 Physics</a:t>
            </a:r>
          </a:p>
        </p:txBody>
      </p:sp>
      <p:pic>
        <p:nvPicPr>
          <p:cNvPr id="16" name="Picture 15" descr="real_site_varuni_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1508760"/>
            <a:ext cx="457200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251960" y="1572768"/>
            <a:ext cx="310896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750" b="1">
                <a:solidFill>
                  <a:srgbClr val="38BDF8"/>
                </a:solidFill>
                <a:latin typeface="Arial"/>
              </a:defRPr>
            </a:pPr>
            <a:r>
              <a:t>Live 3D Twin with Varuni AI Copilot &amp; Buoys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4160520"/>
            <a:ext cx="4572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5384" y="4206240"/>
            <a:ext cx="4462272" cy="21031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Multi-Source Ingestion &amp; Real-Time Sync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284C7"/>
                </a:solidFill>
                <a:latin typeface="Arial"/>
              </a:rPr>
              <a:t>• Copernicus GLORYS12V1: </a:t>
            </a:r>
            <a:r>
              <a:rPr sz="819">
                <a:solidFill>
                  <a:srgbClr val="1E293B"/>
                </a:solidFill>
                <a:latin typeface="Calibri"/>
              </a:rPr>
              <a:t>Global ocean numerical reanalysis with 1/12° resolution and 50 vertical depth layers.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59669"/>
                </a:solidFill>
                <a:latin typeface="Arial"/>
              </a:rPr>
              <a:t>• INCOIS Moored Buoy Fleet: </a:t>
            </a:r>
            <a:r>
              <a:rPr sz="819">
                <a:solidFill>
                  <a:srgbClr val="1E293B"/>
                </a:solidFill>
                <a:latin typeface="Calibri"/>
              </a:rPr>
              <a:t>Live observational data from BD08, AD02, CB01, and Argo profiling floats.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D97706"/>
                </a:solidFill>
                <a:latin typeface="Arial"/>
              </a:rPr>
              <a:t>• Mathematical Concordance: </a:t>
            </a:r>
            <a:r>
              <a:rPr sz="819">
                <a:solidFill>
                  <a:srgbClr val="1E293B"/>
                </a:solidFill>
                <a:latin typeface="Calibri"/>
              </a:rPr>
              <a:t>Instant Pearson R² correlation (96%) and mean bias validation curves.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F172A"/>
                </a:solidFill>
                <a:latin typeface="Arial"/>
              </a:rPr>
              <a:t>• Operational Verdict: </a:t>
            </a:r>
            <a:r>
              <a:rPr sz="819">
                <a:solidFill>
                  <a:srgbClr val="1E293B"/>
                </a:solidFill>
                <a:latin typeface="Calibri"/>
              </a:rPr>
              <a:t>Democratizes complex 4D oceanography for all maritime stakeholders.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143000"/>
            <a:ext cx="2834640" cy="52120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1234440"/>
            <a:ext cx="2651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🌸 Varuni AI Ocean Co-Pilot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2103120"/>
            <a:ext cx="2688336" cy="4206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250"/>
              </a:spcAft>
            </a:pPr>
            <a:r>
              <a:rPr sz="819" b="1">
                <a:solidFill>
                  <a:srgbClr val="7C3AED"/>
                </a:solidFill>
                <a:latin typeface="Arial"/>
              </a:rPr>
              <a:t>• Natural Language Q&amp;A: </a:t>
            </a:r>
            <a:r>
              <a:rPr sz="819">
                <a:solidFill>
                  <a:srgbClr val="1E293B"/>
                </a:solidFill>
                <a:latin typeface="Calibri"/>
              </a:rPr>
              <a:t>Query water temperature, salinity, currents, and thermoclines via voice or text.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7C3AED"/>
                </a:solidFill>
                <a:latin typeface="Arial"/>
              </a:rPr>
              <a:t>• Automated Hazard Alerts: </a:t>
            </a:r>
            <a:r>
              <a:rPr sz="819">
                <a:solidFill>
                  <a:srgbClr val="1E293B"/>
                </a:solidFill>
                <a:latin typeface="Calibri"/>
              </a:rPr>
              <a:t>Proactive warnings for marine heatwaves, sea height anomalies, and cyclone intensification.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7C3AED"/>
                </a:solidFill>
                <a:latin typeface="Arial"/>
              </a:rPr>
              <a:t>• Optimal Route Guidance: </a:t>
            </a:r>
            <a:r>
              <a:rPr sz="819">
                <a:solidFill>
                  <a:srgbClr val="1E293B"/>
                </a:solidFill>
                <a:latin typeface="Calibri"/>
              </a:rPr>
              <a:t>Calculates current-assisted voyage paths to minimize vessel fuel consumption.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7C3AED"/>
                </a:solidFill>
                <a:latin typeface="Arial"/>
              </a:rPr>
              <a:t>• Multi-User Persona: </a:t>
            </a:r>
            <a:r>
              <a:rPr sz="819">
                <a:solidFill>
                  <a:srgbClr val="1E293B"/>
                </a:solidFill>
                <a:latin typeface="Calibri"/>
              </a:rPr>
              <a:t>Adapts explanations seamlessly for scientists, naval officers, or non-technical fishermen.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7C3AED"/>
                </a:solidFill>
                <a:latin typeface="Arial"/>
              </a:rPr>
              <a:t>• Bilingual Interaction: </a:t>
            </a:r>
            <a:r>
              <a:rPr sz="819">
                <a:solidFill>
                  <a:srgbClr val="1E293B"/>
                </a:solidFill>
                <a:latin typeface="Calibri"/>
              </a:rPr>
              <a:t>Supports multi-lingual Indian regional communication for coastal community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aquanov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37160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256032"/>
            <a:ext cx="73152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TECHNICAL APPROACH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From Ocean Big Data to Actionable 3D Intelligence</a:t>
            </a:r>
          </a:p>
        </p:txBody>
      </p:sp>
      <p:pic>
        <p:nvPicPr>
          <p:cNvPr id="5" name="Picture 4" descr="slide_1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28600"/>
            <a:ext cx="192024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4720" y="987552"/>
            <a:ext cx="4572000" cy="22860"/>
          </a:xfrm>
          <a:prstGeom prst="rect">
            <a:avLst/>
          </a:prstGeom>
          <a:solidFill>
            <a:srgbClr val="38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2103120" cy="16002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188720"/>
            <a:ext cx="2029968" cy="1508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284C7"/>
                </a:solidFill>
                <a:latin typeface="Arial"/>
              </a:rPr>
              <a:t>STEP 01: Ingestion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Copernicus GLORYS12V1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INCOIS Moored Buoys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Argo Floats &amp; Yo-Yo Gliders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[NetCDF4 / OPeNDAP]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6" y="1143000"/>
            <a:ext cx="2103120" cy="1600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188720"/>
            <a:ext cx="2029968" cy="1508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59669"/>
                </a:solidFill>
                <a:latin typeface="Arial"/>
              </a:rPr>
              <a:t>STEP 02: Processing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Standardize NetCDF4 arrays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Automated QC &amp; missing check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Outlier &amp; noise removal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[xarray QC Engine]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2" y="1143000"/>
            <a:ext cx="2103120" cy="1600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1188720"/>
            <a:ext cx="2029968" cy="1508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STEP 03: Alignment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1/12° WGS84 spatial sync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Align time series &amp; depth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Pre-sliced 3D tensor grid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[Temporal Synchronization]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1143000"/>
            <a:ext cx="2103120" cy="160020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1188720"/>
            <a:ext cx="2029968" cy="1508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STEP 04: Validation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Real-time RMSE &amp; MAE math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Model vs Buoy delta score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96% Correlation verification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[UNESCO EOS-80 Physics]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184" y="1143000"/>
            <a:ext cx="2103120" cy="16002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188720"/>
            <a:ext cx="2029968" cy="1508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E11D48"/>
                </a:solidFill>
                <a:latin typeface="Arial"/>
              </a:rPr>
              <a:t>STEP 05: 3D Studio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WebGL 60 FPS rendering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16 Depth levels scrubbing</a:t>
            </a:r>
          </a:p>
          <a:p>
            <a:pPr>
              <a:spcAft>
                <a:spcPts val="250"/>
              </a:spcAft>
            </a:pPr>
            <a:r>
              <a:rPr sz="780">
                <a:solidFill>
                  <a:srgbClr val="1E293B"/>
                </a:solidFill>
                <a:latin typeface="Calibri"/>
              </a:rPr>
              <a:t>• Varuni AI voice assistance</a:t>
            </a:r>
          </a:p>
          <a:p>
            <a:pPr>
              <a:spcAft>
                <a:spcPts val="250"/>
              </a:spcAft>
            </a:pPr>
            <a:r>
              <a:rPr sz="750">
                <a:solidFill>
                  <a:srgbClr val="1E293B"/>
                </a:solidFill>
                <a:latin typeface="Calibri"/>
              </a:rPr>
              <a:t>[Three.js Digital Twin]</a:t>
            </a:r>
          </a:p>
        </p:txBody>
      </p:sp>
      <p:pic>
        <p:nvPicPr>
          <p:cNvPr id="19" name="Picture 18" descr="real_site_model_st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80360"/>
            <a:ext cx="429768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" y="2944368"/>
            <a:ext cx="347472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750" b="1">
                <a:solidFill>
                  <a:srgbClr val="38BDF8"/>
                </a:solidFill>
                <a:latin typeface="Arial"/>
              </a:defRPr>
            </a:pPr>
            <a:r>
              <a:t>Live Model vs In-Situ Buoy Validation Studio (CB01)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880360"/>
            <a:ext cx="6583680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2916936"/>
            <a:ext cx="6473952" cy="7040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0284C7"/>
                </a:solidFill>
                <a:latin typeface="Arial"/>
              </a:rPr>
              <a:t>1. Frontend &amp; 3D Interactive Layer (UI / UX)</a:t>
            </a:r>
          </a:p>
          <a:p>
            <a:pPr>
              <a:spcAft>
                <a:spcPts val="250"/>
              </a:spcAft>
            </a:pPr>
            <a:r>
              <a:rPr sz="760">
                <a:solidFill>
                  <a:srgbClr val="1E293B"/>
                </a:solidFill>
                <a:latin typeface="Calibri"/>
              </a:rPr>
              <a:t>Three.js • WebGL Shaders • React 18 (Vite) • Tailwind CSS • Lucide Icons
GPU-accelerated 60 FPS volumetric rendering, responsive aspect layout, outline-bound zoom.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749040"/>
            <a:ext cx="658368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4" y="3785616"/>
            <a:ext cx="6473952" cy="7040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059669"/>
                </a:solidFill>
                <a:latin typeface="Arial"/>
              </a:rPr>
              <a:t>2. Backend Services &amp; NetCDF Slicing Engine</a:t>
            </a:r>
          </a:p>
          <a:p>
            <a:pPr>
              <a:spcAft>
                <a:spcPts val="250"/>
              </a:spcAft>
            </a:pPr>
            <a:r>
              <a:rPr sz="760">
                <a:solidFill>
                  <a:srgbClr val="1E293B"/>
                </a:solidFill>
                <a:latin typeface="Calibri"/>
              </a:rPr>
              <a:t>FastAPI • Python 3.12 • xarray • zarr • NetCDF4 • Pydantic
Sub-75ms lazy-slicing across multi-gigabyte 4D ocean matrices; asynchronous high-concurrency streaming.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617720"/>
            <a:ext cx="658368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4064" y="4654296"/>
            <a:ext cx="6473952" cy="7040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97706"/>
                </a:solidFill>
                <a:latin typeface="Arial"/>
              </a:rPr>
              <a:t>3. Statistical Accuracy &amp; Physics Validation Engine</a:t>
            </a:r>
          </a:p>
          <a:p>
            <a:pPr>
              <a:spcAft>
                <a:spcPts val="250"/>
              </a:spcAft>
            </a:pPr>
            <a:r>
              <a:rPr sz="760">
                <a:solidFill>
                  <a:srgbClr val="1E293B"/>
                </a:solidFill>
                <a:latin typeface="Calibri"/>
              </a:rPr>
              <a:t>UNESCO EOS-80 Seawater Equation • Dynamic RMSE / MAE / R² / Bias Comparator
Validates Copernicus model outputs against in-situ buoys in real-time (RMSE: 0.35°C, Match: 96%).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5486400"/>
            <a:ext cx="6583680" cy="77724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5522976"/>
            <a:ext cx="6473952" cy="7040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7C3AED"/>
                </a:solidFill>
                <a:latin typeface="Arial"/>
              </a:rPr>
              <a:t>4. AI Assistant &amp; Knowledge Layer: Varuni AI</a:t>
            </a:r>
          </a:p>
          <a:p>
            <a:pPr>
              <a:spcAft>
                <a:spcPts val="250"/>
              </a:spcAft>
            </a:pPr>
            <a:r>
              <a:rPr sz="760">
                <a:solidFill>
                  <a:srgbClr val="1E293B"/>
                </a:solidFill>
                <a:latin typeface="Calibri"/>
              </a:rPr>
              <a:t>Oceanographic LLM • Voice TTS / STT Engine • Marine Knowledge Base • RAG Architecture
Natural language voice/chat co-pilot, marine anomaly detection, and automated hazard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aquanov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37160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256032"/>
            <a:ext cx="73152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Technical Feasibility, Data Reliability, Risk Mitigation &amp; Real-World Viability</a:t>
            </a:r>
          </a:p>
        </p:txBody>
      </p:sp>
      <p:pic>
        <p:nvPicPr>
          <p:cNvPr id="5" name="Picture 4" descr="slide_1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28600"/>
            <a:ext cx="192024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4720" y="987552"/>
            <a:ext cx="4572000" cy="22860"/>
          </a:xfrm>
          <a:prstGeom prst="rect">
            <a:avLst/>
          </a:prstGeom>
          <a:solidFill>
            <a:srgbClr val="38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303520" cy="21031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5212080" cy="2011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11D48"/>
                </a:solidFill>
                <a:latin typeface="Arial"/>
              </a:rPr>
              <a:t>1. Market &amp; Operational Gaps in Maritime India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E11D48"/>
                </a:solidFill>
                <a:latin typeface="Arial"/>
              </a:rPr>
              <a:t>• Absence of Unified 3D Digital Twin: </a:t>
            </a:r>
            <a:r>
              <a:rPr sz="850">
                <a:solidFill>
                  <a:srgbClr val="1E293B"/>
                </a:solidFill>
                <a:latin typeface="Calibri"/>
              </a:rPr>
              <a:t>No existing tool in India unifies 4D numerical ocean models with in-situ buoy fleets into a single zero-install platform.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E11D48"/>
                </a:solidFill>
                <a:latin typeface="Arial"/>
              </a:rPr>
              <a:t>• High Software &amp; Licensing Barriers: </a:t>
            </a:r>
            <a:r>
              <a:rPr sz="850">
                <a:solidFill>
                  <a:srgbClr val="1E293B"/>
                </a:solidFill>
                <a:latin typeface="Calibri"/>
              </a:rPr>
              <a:t>Commercial desktop GIS packages require costly per-seat licenses ($5,000+/year) and steep learning curves.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E11D48"/>
                </a:solidFill>
                <a:latin typeface="Arial"/>
              </a:rPr>
              <a:t>• Research &amp; Emergency Delay: </a:t>
            </a:r>
            <a:r>
              <a:rPr sz="850">
                <a:solidFill>
                  <a:srgbClr val="1E293B"/>
                </a:solidFill>
                <a:latin typeface="Calibri"/>
              </a:rPr>
              <a:t>Scientists and Coast Guard spend 60%+ time converting raw NetCDF grids instead of operational analysis.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E11D48"/>
                </a:solidFill>
                <a:latin typeface="Arial"/>
              </a:rPr>
              <a:t>• Coastal Community Exclusion: </a:t>
            </a:r>
            <a:r>
              <a:rPr sz="850">
                <a:solidFill>
                  <a:srgbClr val="1E293B"/>
                </a:solidFill>
                <a:latin typeface="Calibri"/>
              </a:rPr>
              <a:t>Fishermen and port operators lack simple, non-technical ocean state interpretations.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5303520" cy="30175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5212080" cy="2926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284C7"/>
                </a:solidFill>
                <a:latin typeface="Arial"/>
              </a:rPr>
              <a:t>2. Core Feasibility Pillars (Proven &amp; Verified)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Technical Feasibility: </a:t>
            </a:r>
            <a:r>
              <a:rPr sz="850">
                <a:solidFill>
                  <a:srgbClr val="1E293B"/>
                </a:solidFill>
                <a:latin typeface="Calibri"/>
              </a:rPr>
              <a:t>Built completely with production-grade open-source technologies (Python 3.12, React, Three.js). Fully tested with sub-75ms response latency.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Data Feasibility &amp; Quality: </a:t>
            </a:r>
            <a:r>
              <a:rPr sz="850">
                <a:solidFill>
                  <a:srgbClr val="1E293B"/>
                </a:solidFill>
                <a:latin typeface="Calibri"/>
              </a:rPr>
              <a:t>Leverages 100% open, verified datasets from Copernicus Marine Service and INCOIS (daily updates, 1/12° grid resolution).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Economic Feasibility: </a:t>
            </a:r>
            <a:r>
              <a:rPr sz="850">
                <a:solidFill>
                  <a:srgbClr val="1E293B"/>
                </a:solidFill>
                <a:latin typeface="Calibri"/>
              </a:rPr>
              <a:t>Zero recurring software license fees. Fully containerized with Docker for low-cost cloud deployment (NIC, MeghRaj, AWS).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Varuni AI Usability Feasibility: </a:t>
            </a:r>
            <a:r>
              <a:rPr sz="850">
                <a:solidFill>
                  <a:srgbClr val="1E293B"/>
                </a:solidFill>
                <a:latin typeface="Calibri"/>
              </a:rPr>
              <a:t>Natural language interface removes technical hurdles for non-programmers, fishermen, and port operators.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Operational Viability Verdict: </a:t>
            </a:r>
            <a:r>
              <a:rPr sz="850">
                <a:solidFill>
                  <a:srgbClr val="1E293B"/>
                </a:solidFill>
                <a:latin typeface="Calibri"/>
              </a:rPr>
              <a:t>100% Feasible, Scalable, and Ready for immediate deployment across Ministry of Earth Sciences institutions.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143000"/>
            <a:ext cx="5577840" cy="21031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188720"/>
            <a:ext cx="5431536" cy="2011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D97706"/>
                </a:solidFill>
                <a:latin typeface="Arial"/>
              </a:rPr>
              <a:t>3. Key Challenges Identified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D97706"/>
                </a:solidFill>
                <a:latin typeface="Arial"/>
              </a:rPr>
              <a:t>• Massive 4D Data Volume: </a:t>
            </a:r>
            <a:r>
              <a:rPr sz="850">
                <a:solidFill>
                  <a:srgbClr val="1E293B"/>
                </a:solidFill>
                <a:latin typeface="Calibri"/>
              </a:rPr>
              <a:t>Multi-gigabyte NetCDF files cause severe browser memory exhaustion if loaded directly.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D97706"/>
                </a:solidFill>
                <a:latin typeface="Arial"/>
              </a:rPr>
              <a:t>• In-Situ Data Gaps: </a:t>
            </a:r>
            <a:r>
              <a:rPr sz="850">
                <a:solidFill>
                  <a:srgbClr val="1E293B"/>
                </a:solidFill>
                <a:latin typeface="Calibri"/>
              </a:rPr>
              <a:t>Buoys and Argo floats experience satellite transmission delays, creating spatial/temporal gaps.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D97706"/>
                </a:solidFill>
                <a:latin typeface="Arial"/>
              </a:rPr>
              <a:t>• Technical Jargon Barrier: </a:t>
            </a:r>
            <a:r>
              <a:rPr sz="850">
                <a:solidFill>
                  <a:srgbClr val="1E293B"/>
                </a:solidFill>
                <a:latin typeface="Calibri"/>
              </a:rPr>
              <a:t>Oceanographic parameters (thetao, so, uo, vo) intimidate non-specialist users.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D97706"/>
                </a:solidFill>
                <a:latin typeface="Arial"/>
              </a:rPr>
              <a:t>• Cross-Device Performance: </a:t>
            </a:r>
            <a:r>
              <a:rPr sz="850">
                <a:solidFill>
                  <a:srgbClr val="1E293B"/>
                </a:solidFill>
                <a:latin typeface="Calibri"/>
              </a:rPr>
              <a:t>Rendering 3D volumetric fields on non-GPU mobile/laptop hardware requires careful resource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337560"/>
            <a:ext cx="5577840" cy="3017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3383280"/>
            <a:ext cx="5431536" cy="2926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4. Proven Mitigation Strategies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59669"/>
                </a:solidFill>
                <a:latin typeface="Arial"/>
              </a:rPr>
              <a:t>• Smart Lazy-Slicing &amp; WebGL LOD: </a:t>
            </a:r>
            <a:r>
              <a:rPr sz="850">
                <a:solidFill>
                  <a:srgbClr val="1E293B"/>
                </a:solidFill>
                <a:latin typeface="Calibri"/>
              </a:rPr>
              <a:t>FastAPI queries only active depth/station in &lt;75ms; GPU shaders render at 60 FPS with zero lag.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59669"/>
                </a:solidFill>
                <a:latin typeface="Arial"/>
              </a:rPr>
              <a:t>• Robust Interpolation &amp; Uncertainty Metrics: </a:t>
            </a:r>
            <a:r>
              <a:rPr sz="850">
                <a:solidFill>
                  <a:srgbClr val="1E293B"/>
                </a:solidFill>
                <a:latin typeface="Calibri"/>
              </a:rPr>
              <a:t>Employs nearest-neighbor interpolation and displays real-time RMSE confidence bounds.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59669"/>
                </a:solidFill>
                <a:latin typeface="Arial"/>
              </a:rPr>
              <a:t>• Human-Friendly UI + Varuni AI: </a:t>
            </a:r>
            <a:r>
              <a:rPr sz="850">
                <a:solidFill>
                  <a:srgbClr val="1E293B"/>
                </a:solidFill>
                <a:latin typeface="Calibri"/>
              </a:rPr>
              <a:t>Uses simple terms (Water Temp, Salt Level) with subtle scientific badges, paired with Varuni voice assistant.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59669"/>
                </a:solidFill>
                <a:latin typeface="Arial"/>
              </a:rPr>
              <a:t>• Automated Fallback Pipeline: </a:t>
            </a:r>
            <a:r>
              <a:rPr sz="850">
                <a:solidFill>
                  <a:srgbClr val="1E293B"/>
                </a:solidFill>
                <a:latin typeface="Calibri"/>
              </a:rPr>
              <a:t>Implements Redis caching and local fallback reanalysis if live buoy satellite links drop.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59669"/>
                </a:solidFill>
                <a:latin typeface="Arial"/>
              </a:rPr>
              <a:t>• Hardware Optimization: </a:t>
            </a:r>
            <a:r>
              <a:rPr sz="850">
                <a:solidFill>
                  <a:srgbClr val="1E293B"/>
                </a:solidFill>
                <a:latin typeface="Calibri"/>
              </a:rPr>
              <a:t>Adaptive raycasting steps scale automatically to maintain high performance across any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aquanov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37160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256032"/>
            <a:ext cx="73152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Transforming Ocean Observations into Multi-Sector Societal, Economic &amp; Environmental Value</a:t>
            </a:r>
          </a:p>
        </p:txBody>
      </p:sp>
      <p:pic>
        <p:nvPicPr>
          <p:cNvPr id="5" name="Picture 4" descr="slide_1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28600"/>
            <a:ext cx="192024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4720" y="987552"/>
            <a:ext cx="4572000" cy="22860"/>
          </a:xfrm>
          <a:prstGeom prst="rect">
            <a:avLst/>
          </a:prstGeom>
          <a:solidFill>
            <a:srgbClr val="38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577840" cy="2468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5486400" cy="23774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284C7"/>
                </a:solidFill>
                <a:latin typeface="Arial"/>
              </a:rPr>
              <a:t>IMPACTS ON TARGETED STAKEHOLDERS</a:t>
            </a:r>
          </a:p>
          <a:p>
            <a:pPr>
              <a:spcAft>
                <a:spcPts val="250"/>
              </a:spcAft>
            </a:pPr>
            <a:r>
              <a:rPr sz="830" b="1">
                <a:solidFill>
                  <a:srgbClr val="0284C7"/>
                </a:solidFill>
                <a:latin typeface="Arial"/>
              </a:rPr>
              <a:t>• Scientists &amp; Oceanographers: </a:t>
            </a:r>
            <a:r>
              <a:rPr sz="830">
                <a:solidFill>
                  <a:srgbClr val="1E293B"/>
                </a:solidFill>
                <a:latin typeface="Calibri"/>
              </a:rPr>
              <a:t>5x faster data exploration, multi-depth thermocline analysis, instant numerical vs buoy validation.</a:t>
            </a:r>
          </a:p>
          <a:p>
            <a:pPr>
              <a:spcAft>
                <a:spcPts val="250"/>
              </a:spcAft>
            </a:pPr>
            <a:r>
              <a:rPr sz="830" b="1">
                <a:solidFill>
                  <a:srgbClr val="059669"/>
                </a:solidFill>
                <a:latin typeface="Arial"/>
              </a:rPr>
              <a:t>• Coastal Communities &amp; Fishermen: </a:t>
            </a:r>
            <a:r>
              <a:rPr sz="830">
                <a:solidFill>
                  <a:srgbClr val="1E293B"/>
                </a:solidFill>
                <a:latin typeface="Calibri"/>
              </a:rPr>
              <a:t>Clear upwelling &amp; Potential Fishing Zone (PFZ) insights, severe wave alerts, and safer navigation.</a:t>
            </a:r>
          </a:p>
          <a:p>
            <a:pPr>
              <a:spcAft>
                <a:spcPts val="250"/>
              </a:spcAft>
            </a:pPr>
            <a:r>
              <a:rPr sz="830" b="1">
                <a:solidFill>
                  <a:srgbClr val="D97706"/>
                </a:solidFill>
                <a:latin typeface="Arial"/>
              </a:rPr>
              <a:t>• Commercial Maritime &amp; Shipping: </a:t>
            </a:r>
            <a:r>
              <a:rPr sz="830">
                <a:solidFill>
                  <a:srgbClr val="1E293B"/>
                </a:solidFill>
                <a:latin typeface="Calibri"/>
              </a:rPr>
              <a:t>Current-optimized fuel-saving vessel routing, surface wave forecasts, and reduced operational risk.</a:t>
            </a:r>
          </a:p>
          <a:p>
            <a:pPr>
              <a:spcAft>
                <a:spcPts val="250"/>
              </a:spcAft>
            </a:pPr>
            <a:r>
              <a:rPr sz="830" b="1">
                <a:solidFill>
                  <a:srgbClr val="E11D48"/>
                </a:solidFill>
                <a:latin typeface="Arial"/>
              </a:rPr>
              <a:t>• Government &amp; Disaster Management: </a:t>
            </a:r>
            <a:r>
              <a:rPr sz="830">
                <a:solidFill>
                  <a:srgbClr val="1E293B"/>
                </a:solidFill>
                <a:latin typeface="Calibri"/>
              </a:rPr>
              <a:t>Rapid cyclone track analysis, storm surge simulation, and data-driven coastal safety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5577840" cy="2651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5486400" cy="25603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CATEGORIZED BENEFITS MATRIX</a:t>
            </a:r>
          </a:p>
          <a:p>
            <a:pPr>
              <a:spcAft>
                <a:spcPts val="250"/>
              </a:spcAft>
            </a:pPr>
            <a:r>
              <a:rPr sz="830" b="1">
                <a:solidFill>
                  <a:srgbClr val="059669"/>
                </a:solidFill>
                <a:latin typeface="Arial"/>
              </a:rPr>
              <a:t>• Economic Benefits: </a:t>
            </a:r>
            <a:r>
              <a:rPr sz="830">
                <a:solidFill>
                  <a:srgbClr val="1E293B"/>
                </a:solidFill>
                <a:latin typeface="Calibri"/>
              </a:rPr>
              <a:t>Saves crores in commercial vessel fuel via current routing; prevents fishing vessel loss; eliminates software license expenses.</a:t>
            </a:r>
          </a:p>
          <a:p>
            <a:pPr>
              <a:spcAft>
                <a:spcPts val="250"/>
              </a:spcAft>
            </a:pPr>
            <a:r>
              <a:rPr sz="830" b="1">
                <a:solidFill>
                  <a:srgbClr val="059669"/>
                </a:solidFill>
                <a:latin typeface="Arial"/>
              </a:rPr>
              <a:t>• Societal &amp; Environmental Benefits: </a:t>
            </a:r>
            <a:r>
              <a:rPr sz="830">
                <a:solidFill>
                  <a:srgbClr val="1E293B"/>
                </a:solidFill>
                <a:latin typeface="Calibri"/>
              </a:rPr>
              <a:t>Protects vulnerable coastal lives; monitors coral reef bleaching &amp; marine heatwaves; advances national ocean literacy.</a:t>
            </a:r>
          </a:p>
          <a:p>
            <a:pPr>
              <a:spcAft>
                <a:spcPts val="250"/>
              </a:spcAft>
            </a:pPr>
            <a:r>
              <a:rPr sz="830" b="1">
                <a:solidFill>
                  <a:srgbClr val="059669"/>
                </a:solidFill>
                <a:latin typeface="Arial"/>
              </a:rPr>
              <a:t>• Strategic &amp; Government Benefits: </a:t>
            </a:r>
            <a:r>
              <a:rPr sz="830">
                <a:solidFill>
                  <a:srgbClr val="1E293B"/>
                </a:solidFill>
                <a:latin typeface="Calibri"/>
              </a:rPr>
              <a:t>Strengthens Indian Maritime Domain Awareness (MDA); directly supports national Blue Economy &amp; SAGAR vision.</a:t>
            </a:r>
          </a:p>
        </p:txBody>
      </p:sp>
      <p:pic>
        <p:nvPicPr>
          <p:cNvPr id="13" name="Picture 12" descr="real_site_analy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43000"/>
            <a:ext cx="5303520" cy="24231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0" y="1216152"/>
            <a:ext cx="4114800" cy="23774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750" b="1">
                <a:solidFill>
                  <a:srgbClr val="38BDF8"/>
                </a:solidFill>
                <a:latin typeface="Arial"/>
              </a:defRPr>
            </a:pPr>
            <a:r>
              <a:t>Live Vertical Stratification &amp; Marine Intelligence (PFZ &amp; CTD)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694176"/>
            <a:ext cx="2487168" cy="11612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TARGET INSTITUTIONS</a:t>
            </a:r>
          </a:p>
          <a:p>
            <a:pPr>
              <a:spcAft>
                <a:spcPts val="250"/>
              </a:spcAft>
            </a:pPr>
            <a:r>
              <a:rPr sz="750" b="1">
                <a:solidFill>
                  <a:srgbClr val="1E293B"/>
                </a:solidFill>
                <a:latin typeface="Arial"/>
              </a:rPr>
              <a:t>INCOIS, Ministry of Earth Sciences (MoES), Indian Navy, Coast Guard, IMD, fisheries, and academic universities. </a:t>
            </a:r>
          </a:p>
          <a:p>
            <a:pPr>
              <a:spcAft>
                <a:spcPts val="250"/>
              </a:spcAft>
            </a:pPr>
            <a:r>
              <a:rPr sz="720" b="1">
                <a:solidFill>
                  <a:srgbClr val="0284C7"/>
                </a:solidFill>
                <a:latin typeface="Arial"/>
              </a:rPr>
              <a:t>Govt Alignment: SAGAR Initiative &amp; Deep Ocean Mission.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65760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3694176"/>
            <a:ext cx="2487168" cy="11612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059669"/>
                </a:solidFill>
                <a:latin typeface="Arial"/>
              </a:rPr>
              <a:t>FINANCIAL MODEL</a:t>
            </a:r>
          </a:p>
          <a:p>
            <a:pPr>
              <a:spcAft>
                <a:spcPts val="250"/>
              </a:spcAft>
            </a:pPr>
            <a:r>
              <a:rPr sz="750" b="1">
                <a:solidFill>
                  <a:srgbClr val="1E293B"/>
                </a:solidFill>
                <a:latin typeface="Arial"/>
              </a:rPr>
              <a:t>100% open-source core; zero recurring per-seat fees; hosted on national cloud (MeghRaj / NIC) with minimal maintenance. </a:t>
            </a:r>
          </a:p>
          <a:p>
            <a:pPr>
              <a:spcAft>
                <a:spcPts val="250"/>
              </a:spcAft>
            </a:pPr>
            <a:r>
              <a:rPr sz="720" b="1">
                <a:solidFill>
                  <a:srgbClr val="059669"/>
                </a:solidFill>
                <a:latin typeface="Arial"/>
              </a:rPr>
              <a:t>ROI: Immediate elimination of foreign software licenses.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001768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5038344"/>
            <a:ext cx="2487168" cy="11612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VARUNI AI VALUE-ADD</a:t>
            </a:r>
          </a:p>
          <a:p>
            <a:pPr>
              <a:spcAft>
                <a:spcPts val="250"/>
              </a:spcAft>
            </a:pPr>
            <a:r>
              <a:rPr sz="750" b="1">
                <a:solidFill>
                  <a:srgbClr val="1E293B"/>
                </a:solidFill>
                <a:latin typeface="Arial"/>
              </a:rPr>
              <a:t>Automated voice alerts for mariners, bilingual citizen chatbot, and real-time marine anomaly summaries. </a:t>
            </a:r>
          </a:p>
          <a:p>
            <a:pPr>
              <a:spcAft>
                <a:spcPts val="250"/>
              </a:spcAft>
            </a:pPr>
            <a:r>
              <a:rPr sz="720" b="1">
                <a:solidFill>
                  <a:srgbClr val="7C3AED"/>
                </a:solidFill>
                <a:latin typeface="Arial"/>
              </a:rPr>
              <a:t>Capabilities: Natural language ocean telemetry queries.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001768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5038344"/>
            <a:ext cx="2487168" cy="116128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D97706"/>
                </a:solidFill>
                <a:latin typeface="Arial"/>
              </a:rPr>
              <a:t>GLOBAL SCALABILITY</a:t>
            </a:r>
          </a:p>
          <a:p>
            <a:pPr>
              <a:spcAft>
                <a:spcPts val="250"/>
              </a:spcAft>
            </a:pPr>
            <a:r>
              <a:rPr sz="750" b="1">
                <a:solidFill>
                  <a:srgbClr val="1E293B"/>
                </a:solidFill>
                <a:latin typeface="Arial"/>
              </a:rPr>
              <a:t>Seamlessly scales from Indian Ocean basin to global Copernicus / HYCOM grids with plug-and-play NetCDF ingestion. </a:t>
            </a:r>
          </a:p>
          <a:p>
            <a:pPr>
              <a:spcAft>
                <a:spcPts val="250"/>
              </a:spcAft>
            </a:pPr>
            <a:r>
              <a:rPr sz="720" b="1">
                <a:solidFill>
                  <a:srgbClr val="D97706"/>
                </a:solidFill>
                <a:latin typeface="Arial"/>
              </a:rPr>
              <a:t>Architecture: Microservice containerized scaling.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aquanov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137160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256032"/>
            <a:ext cx="73152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RESEARCH AND REFERENCES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Official Datasets, Numerical Ocean Models, Standards &amp; Project Resources</a:t>
            </a:r>
          </a:p>
        </p:txBody>
      </p:sp>
      <p:pic>
        <p:nvPicPr>
          <p:cNvPr id="5" name="Picture 4" descr="slide_1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28600"/>
            <a:ext cx="192024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4720" y="987552"/>
            <a:ext cx="4572000" cy="22860"/>
          </a:xfrm>
          <a:prstGeom prst="rect">
            <a:avLst/>
          </a:prstGeom>
          <a:solidFill>
            <a:srgbClr val="38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394960" cy="2423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16152"/>
            <a:ext cx="5248656" cy="227685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284C7"/>
                </a:solidFill>
                <a:latin typeface="Arial"/>
              </a:rPr>
              <a:t>1. Copernicus Marine Service — GLORYS12V1 Reanalysis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284C7"/>
                </a:solidFill>
                <a:latin typeface="Arial"/>
              </a:rPr>
              <a:t>• Model Description: </a:t>
            </a:r>
            <a:r>
              <a:rPr sz="819">
                <a:solidFill>
                  <a:srgbClr val="1E293B"/>
                </a:solidFill>
                <a:latin typeface="Calibri"/>
              </a:rPr>
              <a:t>Global Ocean Physics Reanalysis delivering daily 1/12° horizontal resolution and 50 vertical depth levels.</a:t>
            </a:r>
          </a:p>
          <a:p>
            <a:pPr>
              <a:spcAft>
                <a:spcPts val="250"/>
              </a:spcAft>
            </a:pPr>
            <a:r>
              <a:rPr sz="800" b="1">
                <a:solidFill>
                  <a:srgbClr val="1E293B"/>
                </a:solidFill>
                <a:latin typeface="Arial"/>
              </a:rPr>
              <a:t>• Core Variables: </a:t>
            </a:r>
            <a:r>
              <a:rPr sz="800">
                <a:solidFill>
                  <a:srgbClr val="1E293B"/>
                </a:solidFill>
                <a:latin typeface="Calibri"/>
              </a:rPr>
              <a:t>Potential Temperature (thetao), Practical Salinity (so), and Horizontal Ocean Currents (uo, vo).</a:t>
            </a:r>
          </a:p>
          <a:p>
            <a:pPr>
              <a:spcAft>
                <a:spcPts val="250"/>
              </a:spcAft>
            </a:pPr>
            <a:r>
              <a:rPr sz="800" b="1">
                <a:solidFill>
                  <a:srgbClr val="1E293B"/>
                </a:solidFill>
                <a:latin typeface="Arial"/>
              </a:rPr>
              <a:t>• Validation Benchmark: </a:t>
            </a:r>
            <a:r>
              <a:rPr sz="800">
                <a:solidFill>
                  <a:srgbClr val="1E293B"/>
                </a:solidFill>
                <a:latin typeface="Calibri"/>
              </a:rPr>
              <a:t>Peer-reviewed assimilations of satellite altimetry, SST, and in-situ profiles across 1993–present.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64748B"/>
                </a:solidFill>
                <a:latin typeface="Arial"/>
              </a:rPr>
              <a:t>• Citation: </a:t>
            </a:r>
            <a:r>
              <a:rPr sz="780">
                <a:solidFill>
                  <a:srgbClr val="1E293B"/>
                </a:solidFill>
                <a:latin typeface="Calibri"/>
              </a:rPr>
              <a:t>E.U. Copernicus Marine Service Information; DOI: 10.48670/moi-00021; Product User Manual (PUM).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94960" cy="2423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216152"/>
            <a:ext cx="5248656" cy="227685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2. INCOIS — Ocean Observation Network &amp; OSF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59669"/>
                </a:solidFill>
                <a:latin typeface="Arial"/>
              </a:rPr>
              <a:t>• Observational Fleet: </a:t>
            </a:r>
            <a:r>
              <a:rPr sz="819">
                <a:solidFill>
                  <a:srgbClr val="1E293B"/>
                </a:solidFill>
                <a:latin typeface="Calibri"/>
              </a:rPr>
              <a:t>Moored buoys (BD08, AD02, CB01), coastal high-frequency radar, and Argo profiling floats across Indian Ocean.</a:t>
            </a:r>
          </a:p>
          <a:p>
            <a:pPr>
              <a:spcAft>
                <a:spcPts val="250"/>
              </a:spcAft>
            </a:pPr>
            <a:r>
              <a:rPr sz="800" b="1">
                <a:solidFill>
                  <a:srgbClr val="1E293B"/>
                </a:solidFill>
                <a:latin typeface="Arial"/>
              </a:rPr>
              <a:t>• Operational Forecasts: </a:t>
            </a:r>
            <a:r>
              <a:rPr sz="800">
                <a:solidFill>
                  <a:srgbClr val="1E293B"/>
                </a:solidFill>
                <a:latin typeface="Calibri"/>
              </a:rPr>
              <a:t>Ocean State Forecast (OSF) models for sea state, surface wave height, currents, and cyclone tracking.</a:t>
            </a:r>
          </a:p>
          <a:p>
            <a:pPr>
              <a:spcAft>
                <a:spcPts val="250"/>
              </a:spcAft>
            </a:pPr>
            <a:r>
              <a:rPr sz="800" b="1">
                <a:solidFill>
                  <a:srgbClr val="1E293B"/>
                </a:solidFill>
                <a:latin typeface="Arial"/>
              </a:rPr>
              <a:t>• Real-Time Telemetry: </a:t>
            </a:r>
            <a:r>
              <a:rPr sz="800">
                <a:solidFill>
                  <a:srgbClr val="1E293B"/>
                </a:solidFill>
                <a:latin typeface="Calibri"/>
              </a:rPr>
              <a:t>Direct ingestion of in-situ CTD sensors, acoustic Doppler current profilers (ADCP), and tide gauges.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64748B"/>
                </a:solidFill>
                <a:latin typeface="Arial"/>
              </a:rPr>
              <a:t>• Authority: </a:t>
            </a:r>
            <a:r>
              <a:rPr sz="780">
                <a:solidFill>
                  <a:srgbClr val="1E293B"/>
                </a:solidFill>
                <a:latin typeface="Calibri"/>
              </a:rPr>
              <a:t>Indian National Centre for Ocean Information Services (INCOIS), Ministry of Earth Sciences, Govt. of India.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394960" cy="24231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730752"/>
            <a:ext cx="5248656" cy="227685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3. Scientific Standards, Equations &amp; Protocols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7C3AED"/>
                </a:solidFill>
                <a:latin typeface="Arial"/>
              </a:rPr>
              <a:t>• Thermodynamic Equation of Seawater (TEOS-10): </a:t>
            </a:r>
            <a:r>
              <a:rPr sz="819">
                <a:solidFill>
                  <a:srgbClr val="1E293B"/>
                </a:solidFill>
                <a:latin typeface="Calibri"/>
              </a:rPr>
              <a:t>UNESCO IOC / SCOR standard for ocean density, buoyancy, and sound velocity calculation.</a:t>
            </a:r>
          </a:p>
          <a:p>
            <a:pPr>
              <a:spcAft>
                <a:spcPts val="250"/>
              </a:spcAft>
            </a:pPr>
            <a:r>
              <a:rPr sz="800" b="1">
                <a:solidFill>
                  <a:srgbClr val="1E293B"/>
                </a:solidFill>
                <a:latin typeface="Arial"/>
              </a:rPr>
              <a:t>• Climate and Forecast (CF) Metadata 1.8: </a:t>
            </a:r>
            <a:r>
              <a:rPr sz="800">
                <a:solidFill>
                  <a:srgbClr val="1E293B"/>
                </a:solidFill>
                <a:latin typeface="Calibri"/>
              </a:rPr>
              <a:t>Compliant with international CF conventions for 4D NetCDF oceanographic dataset interoperability.</a:t>
            </a:r>
          </a:p>
          <a:p>
            <a:pPr>
              <a:spcAft>
                <a:spcPts val="250"/>
              </a:spcAft>
            </a:pPr>
            <a:r>
              <a:rPr sz="800" b="1">
                <a:solidFill>
                  <a:srgbClr val="1E293B"/>
                </a:solidFill>
                <a:latin typeface="Arial"/>
              </a:rPr>
              <a:t>• Statistical Validation Protocol: </a:t>
            </a:r>
            <a:r>
              <a:rPr sz="800">
                <a:solidFill>
                  <a:srgbClr val="1E293B"/>
                </a:solidFill>
                <a:latin typeface="Calibri"/>
              </a:rPr>
              <a:t>Root-Mean-Square Error (RMSE), Mean Absolute Error (MAE), and Pearson R² correlation metrics.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64748B"/>
                </a:solidFill>
                <a:latin typeface="Arial"/>
              </a:rPr>
              <a:t>• Verification: </a:t>
            </a:r>
            <a:r>
              <a:rPr sz="780">
                <a:solidFill>
                  <a:srgbClr val="1E293B"/>
                </a:solidFill>
                <a:latin typeface="Calibri"/>
              </a:rPr>
              <a:t>Tested across 7-day diurnal windows with &lt;0.35°C RMSE concordance against operational buoys.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3949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730752"/>
            <a:ext cx="5248656" cy="2276856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4. Project Repository, Live Prototype &amp; Compliance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284C7"/>
                </a:solidFill>
                <a:latin typeface="Arial"/>
              </a:rPr>
              <a:t>• Problem Statement ID: </a:t>
            </a:r>
            <a:r>
              <a:rPr sz="819">
                <a:solidFill>
                  <a:srgbClr val="1E293B"/>
                </a:solidFill>
                <a:latin typeface="Calibri"/>
              </a:rPr>
              <a:t>SIH26067 — Interactive 3D Ocean Model &amp; In-Situ Visualization Platform.</a:t>
            </a:r>
          </a:p>
          <a:p>
            <a:pPr>
              <a:spcAft>
                <a:spcPts val="250"/>
              </a:spcAft>
            </a:pPr>
            <a:r>
              <a:rPr sz="819" b="1">
                <a:solidFill>
                  <a:srgbClr val="059669"/>
                </a:solidFill>
                <a:latin typeface="Arial"/>
              </a:rPr>
              <a:t>• Working Prototype: </a:t>
            </a:r>
            <a:r>
              <a:rPr sz="819">
                <a:solidFill>
                  <a:srgbClr val="1E293B"/>
                </a:solidFill>
                <a:latin typeface="Calibri"/>
              </a:rPr>
              <a:t>Fully functional 3D WebGL Digital Twin with real-time buoy comparison and Varuni AI integration.</a:t>
            </a:r>
          </a:p>
          <a:p>
            <a:pPr>
              <a:spcAft>
                <a:spcPts val="250"/>
              </a:spcAft>
            </a:pPr>
            <a:r>
              <a:rPr sz="800" b="1">
                <a:solidFill>
                  <a:srgbClr val="1E293B"/>
                </a:solidFill>
                <a:latin typeface="Arial"/>
              </a:rPr>
              <a:t>• Source Code &amp; Documentation: </a:t>
            </a:r>
            <a:r>
              <a:rPr sz="800">
                <a:solidFill>
                  <a:srgbClr val="1E293B"/>
                </a:solidFill>
                <a:latin typeface="Calibri"/>
              </a:rPr>
              <a:t>Production-ready React 18 + Python FastAPI codebase; open architecture ready for pilot testing.</a:t>
            </a:r>
          </a:p>
          <a:p>
            <a:pPr>
              <a:spcAft>
                <a:spcPts val="250"/>
              </a:spcAft>
            </a:pPr>
            <a:r>
              <a:rPr sz="780" b="1">
                <a:solidFill>
                  <a:srgbClr val="64748B"/>
                </a:solidFill>
                <a:latin typeface="Arial"/>
              </a:rPr>
              <a:t>• Submission Team: </a:t>
            </a:r>
            <a:r>
              <a:rPr sz="780">
                <a:solidFill>
                  <a:srgbClr val="1E293B"/>
                </a:solidFill>
                <a:latin typeface="Calibri"/>
              </a:rPr>
              <a:t>Team AquaNova — Smart India Hackathon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